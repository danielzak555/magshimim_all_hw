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33"/>
  </p:notesMasterIdLst>
  <p:sldIdLst>
    <p:sldId id="291" r:id="rId3"/>
    <p:sldId id="316" r:id="rId4"/>
    <p:sldId id="315" r:id="rId5"/>
    <p:sldId id="338" r:id="rId6"/>
    <p:sldId id="340" r:id="rId7"/>
    <p:sldId id="342" r:id="rId8"/>
    <p:sldId id="353" r:id="rId9"/>
    <p:sldId id="346" r:id="rId10"/>
    <p:sldId id="347" r:id="rId11"/>
    <p:sldId id="345" r:id="rId12"/>
    <p:sldId id="356" r:id="rId13"/>
    <p:sldId id="357" r:id="rId14"/>
    <p:sldId id="358" r:id="rId15"/>
    <p:sldId id="359" r:id="rId16"/>
    <p:sldId id="349" r:id="rId17"/>
    <p:sldId id="362" r:id="rId18"/>
    <p:sldId id="361" r:id="rId19"/>
    <p:sldId id="363" r:id="rId20"/>
    <p:sldId id="364" r:id="rId21"/>
    <p:sldId id="369" r:id="rId22"/>
    <p:sldId id="351" r:id="rId23"/>
    <p:sldId id="348" r:id="rId24"/>
    <p:sldId id="367" r:id="rId25"/>
    <p:sldId id="352" r:id="rId26"/>
    <p:sldId id="368" r:id="rId27"/>
    <p:sldId id="370" r:id="rId28"/>
    <p:sldId id="371" r:id="rId29"/>
    <p:sldId id="365" r:id="rId30"/>
    <p:sldId id="366" r:id="rId31"/>
    <p:sldId id="344" r:id="rId32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AB63"/>
    <a:srgbClr val="80A331"/>
    <a:srgbClr val="10222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82" autoAdjust="0"/>
  </p:normalViewPr>
  <p:slideViewPr>
    <p:cSldViewPr>
      <p:cViewPr varScale="1">
        <p:scale>
          <a:sx n="82" d="100"/>
          <a:sy n="82" d="100"/>
        </p:scale>
        <p:origin x="-11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87F02-627E-4587-BEA5-6D7EA3191811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C88D7-1047-49FE-961C-CA9AAFD3BD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30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08113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תשובה לשאלה:</a:t>
            </a:r>
          </a:p>
          <a:p>
            <a:pPr algn="r" rtl="1"/>
            <a:r>
              <a:rPr lang="he-IL" dirty="0" smtClean="0"/>
              <a:t>כיוון</a:t>
            </a:r>
            <a:r>
              <a:rPr lang="he-IL" baseline="0" dirty="0" smtClean="0"/>
              <a:t> שהערך מוחזר אלינו מתוך פונקציה אנו יכולים לדעת בוודאות שהמשתנה הוקצה באופן דינמי ב </a:t>
            </a:r>
            <a:r>
              <a:rPr lang="en-US" baseline="0" dirty="0" smtClean="0"/>
              <a:t>heap</a:t>
            </a:r>
            <a:r>
              <a:rPr lang="he-IL" baseline="0" dirty="0" smtClean="0"/>
              <a:t> בעזרת </a:t>
            </a:r>
            <a:r>
              <a:rPr lang="en-US" baseline="0" dirty="0" err="1" smtClean="0"/>
              <a:t>malloc</a:t>
            </a:r>
            <a:r>
              <a:rPr lang="he-IL" baseline="0" dirty="0" smtClean="0"/>
              <a:t>.</a:t>
            </a:r>
          </a:p>
          <a:p>
            <a:pPr algn="r" rtl="1"/>
            <a:r>
              <a:rPr lang="he-IL" baseline="0" dirty="0" smtClean="0"/>
              <a:t>אחרת היינו מחזירים משתנה שהוגדר בתוך פונקציה (באזור ב-</a:t>
            </a:r>
            <a:r>
              <a:rPr lang="en-US" baseline="0" dirty="0" smtClean="0"/>
              <a:t>stack</a:t>
            </a:r>
            <a:r>
              <a:rPr lang="he-IL" baseline="0" dirty="0" smtClean="0"/>
              <a:t>/מחסנית שהוקצה עבורה) לפונקציה חיצונית, מה שעשוי להוביל לשגיאות. אם היינו ניגש למשתנה שהוגדר בתוך הפונקציה לאחר שזו סיימה את ריצתה, אנו ניגשים לאזור בזיכרון שנמחק – וזוהי שגיאת סמן ריצה.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זוהי אחת הסיבות שצריך להשתמש ב </a:t>
            </a:r>
            <a:r>
              <a:rPr lang="en-US" baseline="0" dirty="0" err="1" smtClean="0"/>
              <a:t>fclose</a:t>
            </a:r>
            <a:r>
              <a:rPr lang="he-IL" baseline="0" dirty="0" smtClean="0"/>
              <a:t> שנראה בהמשך. מפני שפונקציה זו דואגת בין השאר לשחרר זיכרון שהוקצה דינמית.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תשובה לשאלה: בקובץ</a:t>
            </a:r>
            <a:r>
              <a:rPr lang="he-IL" baseline="0" dirty="0" smtClean="0"/>
              <a:t> בינארי כליי, בשונה מקובץ טקסטואלי, יכולים להופיע כל הערכים של טבלת ה</a:t>
            </a:r>
            <a:r>
              <a:rPr lang="en-US" baseline="0" dirty="0" smtClean="0"/>
              <a:t>ASCII</a:t>
            </a:r>
            <a:r>
              <a:rPr lang="he-IL" baseline="0" dirty="0" smtClean="0"/>
              <a:t> (0-255).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אם היינו מחליטים שהסימן לסוף קובץ </a:t>
            </a:r>
            <a:r>
              <a:rPr lang="en-US" baseline="0" dirty="0" smtClean="0"/>
              <a:t>EOF</a:t>
            </a:r>
            <a:r>
              <a:rPr lang="he-IL" baseline="0" dirty="0" smtClean="0"/>
              <a:t> הוא ערך </a:t>
            </a:r>
            <a:r>
              <a:rPr lang="en-US" baseline="0" dirty="0" smtClean="0"/>
              <a:t>ASCII</a:t>
            </a:r>
            <a:r>
              <a:rPr lang="he-IL" baseline="0" dirty="0" smtClean="0"/>
              <a:t> מסוים (לדוגמא הבית 1), אמנם לא היינו נתקלים בו בקובץ טקסטואלי, אך בקובץ בינארי רגיל הוא יכול היה להופיע.</a:t>
            </a:r>
          </a:p>
          <a:p>
            <a:pPr algn="r" rtl="1"/>
            <a:r>
              <a:rPr lang="he-IL" dirty="0" smtClean="0"/>
              <a:t>במקרה כזה היינו חושבים בטעות כי הגענו לסוף הקובץ</a:t>
            </a:r>
            <a:r>
              <a:rPr lang="he-IL" baseline="0" dirty="0" smtClean="0"/>
              <a:t> למרות שבעצם קראנו תוכן מאמצע הקובץ.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הערך </a:t>
            </a:r>
            <a:r>
              <a:rPr lang="en-US" baseline="0" dirty="0" smtClean="0"/>
              <a:t>-1</a:t>
            </a:r>
            <a:r>
              <a:rPr lang="he-IL" baseline="0" dirty="0" smtClean="0"/>
              <a:t> לא יכול להיות מבוטא ב </a:t>
            </a:r>
            <a:r>
              <a:rPr lang="en-US" baseline="0" dirty="0" smtClean="0"/>
              <a:t>unsigned char</a:t>
            </a:r>
            <a:r>
              <a:rPr lang="he-IL" baseline="0" dirty="0" smtClean="0"/>
              <a:t> הערך </a:t>
            </a:r>
            <a:r>
              <a:rPr lang="en-US" baseline="0" dirty="0" smtClean="0"/>
              <a:t>EOF</a:t>
            </a:r>
            <a:r>
              <a:rPr lang="he-IL" baseline="0" dirty="0" smtClean="0"/>
              <a:t> שווה לו והפונקציה </a:t>
            </a:r>
            <a:r>
              <a:rPr lang="en-US" baseline="0" dirty="0" err="1" smtClean="0"/>
              <a:t>fgetc</a:t>
            </a:r>
            <a:r>
              <a:rPr lang="he-IL" baseline="0" dirty="0" smtClean="0"/>
              <a:t> מחזירה </a:t>
            </a:r>
            <a:r>
              <a:rPr lang="en-US" baseline="0" dirty="0" err="1" smtClean="0"/>
              <a:t>int</a:t>
            </a:r>
            <a:r>
              <a:rPr lang="he-IL" baseline="0" dirty="0" smtClean="0"/>
              <a:t> כדי שתוכל להחזיר את </a:t>
            </a:r>
            <a:r>
              <a:rPr lang="en-US" baseline="0" dirty="0" smtClean="0"/>
              <a:t>EOF</a:t>
            </a:r>
            <a:r>
              <a:rPr lang="he-IL" baseline="0" dirty="0" smtClean="0"/>
              <a:t> בסוף קובץ (בינארי או טקסטואלי).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תשובה לשאלה: בקובץ</a:t>
            </a:r>
            <a:r>
              <a:rPr lang="he-IL" baseline="0" dirty="0" smtClean="0"/>
              <a:t> בינארי כליי, בשונה מקובץ טקסטואלי, יכולים להופיע כל הערכים של טבלת ה</a:t>
            </a:r>
            <a:r>
              <a:rPr lang="en-US" baseline="0" dirty="0" smtClean="0"/>
              <a:t>ASCII</a:t>
            </a:r>
            <a:r>
              <a:rPr lang="he-IL" baseline="0" dirty="0" smtClean="0"/>
              <a:t> (0-255).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אם היינו מחליטים שהסימן לסוף קובץ </a:t>
            </a:r>
            <a:r>
              <a:rPr lang="en-US" baseline="0" dirty="0" smtClean="0"/>
              <a:t>EOF</a:t>
            </a:r>
            <a:r>
              <a:rPr lang="he-IL" baseline="0" dirty="0" smtClean="0"/>
              <a:t> הוא ערך </a:t>
            </a:r>
            <a:r>
              <a:rPr lang="en-US" baseline="0" dirty="0" smtClean="0"/>
              <a:t>ASCII</a:t>
            </a:r>
            <a:r>
              <a:rPr lang="he-IL" baseline="0" dirty="0" smtClean="0"/>
              <a:t> מסוים (לדוגמא הבית 1), אמנם לא היינו נתקלים בו בקובץ טקסטואלי, אך בקובץ בינארי רגיל הוא יכול היה להופיע.</a:t>
            </a:r>
          </a:p>
          <a:p>
            <a:pPr algn="r" rtl="1"/>
            <a:r>
              <a:rPr lang="he-IL" dirty="0" smtClean="0"/>
              <a:t>במקרה כזה היינו חושבים בטעות כי הגענו לסוף הקובץ</a:t>
            </a:r>
            <a:r>
              <a:rPr lang="he-IL" baseline="0" dirty="0" smtClean="0"/>
              <a:t> למרות שבעצם קראנו תוכן מאמצע הקובץ.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הערך </a:t>
            </a:r>
            <a:r>
              <a:rPr lang="en-US" baseline="0" dirty="0" smtClean="0"/>
              <a:t>-1</a:t>
            </a:r>
            <a:r>
              <a:rPr lang="he-IL" baseline="0" dirty="0" smtClean="0"/>
              <a:t> לא יכול להיות מבוטא ב </a:t>
            </a:r>
            <a:r>
              <a:rPr lang="en-US" baseline="0" dirty="0" smtClean="0"/>
              <a:t>unsigned char</a:t>
            </a:r>
            <a:r>
              <a:rPr lang="he-IL" baseline="0" dirty="0" smtClean="0"/>
              <a:t> הערך </a:t>
            </a:r>
            <a:r>
              <a:rPr lang="en-US" baseline="0" dirty="0" smtClean="0"/>
              <a:t>EOF</a:t>
            </a:r>
            <a:r>
              <a:rPr lang="he-IL" baseline="0" dirty="0" smtClean="0"/>
              <a:t> שווה לו והפונקציה </a:t>
            </a:r>
            <a:r>
              <a:rPr lang="en-US" baseline="0" dirty="0" err="1" smtClean="0"/>
              <a:t>fgetc</a:t>
            </a:r>
            <a:r>
              <a:rPr lang="he-IL" baseline="0" dirty="0" smtClean="0"/>
              <a:t> מחזירה </a:t>
            </a:r>
            <a:r>
              <a:rPr lang="en-US" baseline="0" dirty="0" err="1" smtClean="0"/>
              <a:t>int</a:t>
            </a:r>
            <a:r>
              <a:rPr lang="he-IL" baseline="0" dirty="0" smtClean="0"/>
              <a:t> כדי שתוכל להחזיר את </a:t>
            </a:r>
            <a:r>
              <a:rPr lang="en-US" baseline="0" dirty="0" smtClean="0"/>
              <a:t>EOF</a:t>
            </a:r>
            <a:r>
              <a:rPr lang="he-IL" baseline="0" dirty="0" smtClean="0"/>
              <a:t> בסוף קובץ (בינארי או טקסטואלי).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תשובה לשאלה: בקובץ</a:t>
            </a:r>
            <a:r>
              <a:rPr lang="he-IL" baseline="0" dirty="0" smtClean="0"/>
              <a:t> בינארי כליי, בשונה מקובץ טקסטואלי, יכולים להופיע כל הערכים של טבלת ה</a:t>
            </a:r>
            <a:r>
              <a:rPr lang="en-US" baseline="0" dirty="0" smtClean="0"/>
              <a:t>ASCII</a:t>
            </a:r>
            <a:r>
              <a:rPr lang="he-IL" baseline="0" dirty="0" smtClean="0"/>
              <a:t> (0-255).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אם היינו מחליטים שהסימן לסוף קובץ </a:t>
            </a:r>
            <a:r>
              <a:rPr lang="en-US" baseline="0" dirty="0" smtClean="0"/>
              <a:t>EOF</a:t>
            </a:r>
            <a:r>
              <a:rPr lang="he-IL" baseline="0" dirty="0" smtClean="0"/>
              <a:t> הוא ערך </a:t>
            </a:r>
            <a:r>
              <a:rPr lang="en-US" baseline="0" dirty="0" smtClean="0"/>
              <a:t>ASCII</a:t>
            </a:r>
            <a:r>
              <a:rPr lang="he-IL" baseline="0" dirty="0" smtClean="0"/>
              <a:t> מסוים (לדוגמא הבית 1), אמנם לא היינו נתקלים בו בקובץ טקסטואלי, אך בקובץ בינארי רגיל הוא יכול היה להופיע.</a:t>
            </a:r>
          </a:p>
          <a:p>
            <a:pPr algn="r" rtl="1"/>
            <a:r>
              <a:rPr lang="he-IL" dirty="0" smtClean="0"/>
              <a:t>במקרה כזה היינו חושבים בטעות כי הגענו לסוף הקובץ</a:t>
            </a:r>
            <a:r>
              <a:rPr lang="he-IL" baseline="0" dirty="0" smtClean="0"/>
              <a:t> למרות שבעצם קראנו תוכן מאמצע הקובץ.</a:t>
            </a:r>
          </a:p>
          <a:p>
            <a:pPr algn="r" rtl="1"/>
            <a:endParaRPr lang="he-IL" baseline="0" dirty="0" smtClean="0"/>
          </a:p>
          <a:p>
            <a:pPr algn="r" rtl="1"/>
            <a:r>
              <a:rPr lang="he-IL" baseline="0" dirty="0" smtClean="0"/>
              <a:t>הערך </a:t>
            </a:r>
            <a:r>
              <a:rPr lang="en-US" baseline="0" dirty="0" smtClean="0"/>
              <a:t>-1</a:t>
            </a:r>
            <a:r>
              <a:rPr lang="he-IL" baseline="0" dirty="0" smtClean="0"/>
              <a:t> לא יכול להיות מבוטא ב </a:t>
            </a:r>
            <a:r>
              <a:rPr lang="en-US" baseline="0" dirty="0" smtClean="0"/>
              <a:t>unsigned char</a:t>
            </a:r>
            <a:r>
              <a:rPr lang="he-IL" baseline="0" dirty="0" smtClean="0"/>
              <a:t> הערך </a:t>
            </a:r>
            <a:r>
              <a:rPr lang="en-US" baseline="0" dirty="0" smtClean="0"/>
              <a:t>EOF</a:t>
            </a:r>
            <a:r>
              <a:rPr lang="he-IL" baseline="0" dirty="0" smtClean="0"/>
              <a:t> שווה לו והפונקציה </a:t>
            </a:r>
            <a:r>
              <a:rPr lang="en-US" baseline="0" dirty="0" err="1" smtClean="0"/>
              <a:t>fgetc</a:t>
            </a:r>
            <a:r>
              <a:rPr lang="he-IL" baseline="0" dirty="0" smtClean="0"/>
              <a:t> מחזירה </a:t>
            </a:r>
            <a:r>
              <a:rPr lang="en-US" baseline="0" dirty="0" err="1" smtClean="0"/>
              <a:t>int</a:t>
            </a:r>
            <a:r>
              <a:rPr lang="he-IL" baseline="0" dirty="0" smtClean="0"/>
              <a:t> כדי שתוכל להחזיר את </a:t>
            </a:r>
            <a:r>
              <a:rPr lang="en-US" baseline="0" dirty="0" smtClean="0"/>
              <a:t>EOF</a:t>
            </a:r>
            <a:r>
              <a:rPr lang="he-IL" baseline="0" dirty="0" smtClean="0"/>
              <a:t> בסוף קובץ (בינארי או טקסטואלי).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תשובה לשאלה: היינו קוראים</a:t>
            </a:r>
            <a:r>
              <a:rPr lang="he-IL" baseline="0" dirty="0" smtClean="0"/>
              <a:t> את אותו תו שוב ושוב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 smtClean="0"/>
              <a:t>תשובה לשאלה: היינו קוראים</a:t>
            </a:r>
            <a:r>
              <a:rPr lang="he-IL" baseline="0" dirty="0" smtClean="0"/>
              <a:t> את אותו תו שוב ושוב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C88D7-1047-49FE-961C-CA9AAFD3BD3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567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B9136-33C2-43EA-AC71-E42C4DA403B1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B61C3-1771-415B-A6DE-90DA30CE3A59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BEB4E-C75E-4F2D-A988-DB5A5FC9C5BF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8959BC-BE23-4DFD-8041-6A462F1012D7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73EA9-7626-45BD-B325-1998CD6E6872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0565A-5039-49DA-94E5-481D9C809CEC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21941-5F68-4BFF-8A7E-CFE627DD6A9B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B6E0B-3D9B-4837-81E7-7EF9A174EA48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3F64-1C18-4A31-8AFE-79587A9EF019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CCDA5-29F6-4311-A5FA-59A65C0CB765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75839-794C-4915-AD3A-D6992591DCF4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5D01A-50FD-4461-8E68-2927DE18959B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5C3D1-A870-44EF-80E2-1CB354307FCA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8D929-7587-426C-AA8F-8386B59E002F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61DB0-755C-4AB3-A1B3-630864E234D9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D70F4-5F14-4A44-A14F-69AD73553C14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he-IL" noProof="0" smtClean="0"/>
              <a:t>לחץ על הסמל כדי להוסיף תמונה</a:t>
            </a:r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85076-6838-48C6-BB71-B411BF289309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2FD9E-26F8-4725-93E7-432149BB38B2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D5E40-86FC-4091-AC35-7FFC69D245B3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4AE68-33EF-4F8B-9580-917892EA45C4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3B32A-E536-46F4-B4A5-E0AAB651BEAF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E2975-FCA3-42A1-959D-0DC2A158212D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83768" y="1196752"/>
            <a:ext cx="6260232" cy="1470025"/>
          </a:xfrm>
        </p:spPr>
        <p:txBody>
          <a:bodyPr/>
          <a:lstStyle>
            <a:lvl1pPr>
              <a:defRPr lang="fr-FR" sz="4400" b="1" i="0" u="none" strike="noStrike" cap="none" baseline="0" dirty="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rtl="1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80A331"/>
              </a:buClr>
              <a:buSzPct val="25000"/>
              <a:buFont typeface="Calibri"/>
              <a:buNone/>
            </a:pPr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4534272"/>
            <a:ext cx="6400800" cy="766936"/>
          </a:xfrm>
        </p:spPr>
        <p:txBody>
          <a:bodyPr/>
          <a:lstStyle>
            <a:lvl1pPr marL="0" indent="0" algn="ctr">
              <a:buNone/>
              <a:defRPr lang="fr-FR" sz="44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80A331"/>
              </a:buClr>
              <a:buSzPct val="25000"/>
              <a:buFont typeface="Calibri"/>
              <a:buNone/>
            </a:pPr>
            <a:r>
              <a:rPr lang="en-US" smtClean="0"/>
              <a:t>Click to edit Master subtitle style</a:t>
            </a:r>
            <a:endParaRPr lang="fr-FR" dirty="0"/>
          </a:p>
        </p:txBody>
      </p:sp>
      <p:pic>
        <p:nvPicPr>
          <p:cNvPr id="7" name="Picture 7" descr="img-logo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69221" y="114499"/>
            <a:ext cx="686349" cy="578197"/>
          </a:xfrm>
          <a:prstGeom prst="rect">
            <a:avLst/>
          </a:prstGeom>
        </p:spPr>
      </p:pic>
      <p:pic>
        <p:nvPicPr>
          <p:cNvPr id="8" name="Picture 9" descr="img-logo-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95736" y="188640"/>
            <a:ext cx="692324" cy="583231"/>
          </a:xfrm>
          <a:prstGeom prst="rect">
            <a:avLst/>
          </a:prstGeom>
        </p:spPr>
      </p:pic>
      <p:pic>
        <p:nvPicPr>
          <p:cNvPr id="9" name="Picture 10" descr="img-logo-5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5536" y="188640"/>
            <a:ext cx="683568" cy="575854"/>
          </a:xfrm>
          <a:prstGeom prst="rect">
            <a:avLst/>
          </a:prstGeom>
        </p:spPr>
      </p:pic>
      <p:pic>
        <p:nvPicPr>
          <p:cNvPr id="10" name="Picture 14" descr="img-logo-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48772" y="112018"/>
            <a:ext cx="683935" cy="576163"/>
          </a:xfrm>
          <a:prstGeom prst="rect">
            <a:avLst/>
          </a:prstGeom>
        </p:spPr>
      </p:pic>
      <p:pic>
        <p:nvPicPr>
          <p:cNvPr id="11" name="Picture 15" descr="img-logo-3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90061" y="63252"/>
            <a:ext cx="1102019" cy="928367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5B9136-33C2-43EA-AC71-E42C4DA403B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8B61C3-1771-415B-A6DE-90DA30CE3A5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lang="fr-FR" sz="4000" b="1" i="0" u="none" strike="noStrike" cap="none" baseline="0" dirty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ea typeface="+mn-ea"/>
                <a:cs typeface="David" pitchFamily="34" charset="-79"/>
              </a:defRPr>
            </a:lvl1pPr>
            <a:lvl2pPr>
              <a:buFont typeface="Wingdings" pitchFamily="2" charset="2"/>
              <a:buChar char="§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ea typeface="+mn-ea"/>
                <a:cs typeface="David" pitchFamily="34" charset="-79"/>
              </a:defRPr>
            </a:lvl2pPr>
            <a:lvl3pPr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ea typeface="+mn-ea"/>
                <a:cs typeface="David" pitchFamily="34" charset="-79"/>
              </a:defRPr>
            </a:lvl3pPr>
            <a:lvl4pPr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ea typeface="+mn-ea"/>
                <a:cs typeface="David" pitchFamily="34" charset="-79"/>
              </a:defRPr>
            </a:lvl4pPr>
            <a:lvl5pPr>
              <a:defRPr lang="fr-FR" sz="28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ea typeface="+mn-ea"/>
                <a:cs typeface="David" pitchFamily="34" charset="-79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avid" pitchFamily="34" charset="-79"/>
                <a:cs typeface="David" pitchFamily="34" charset="-79"/>
              </a:defRPr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420888"/>
            <a:ext cx="7772400" cy="1500187"/>
          </a:xfrm>
        </p:spPr>
        <p:txBody>
          <a:bodyPr anchor="b"/>
          <a:lstStyle>
            <a:lvl1pPr marL="0" indent="0" algn="ctr">
              <a:buNone/>
              <a:defRPr lang="en-US" sz="8800" b="1" i="0" u="none" strike="noStrike" cap="none" baseline="0" dirty="0" smtClean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 sz="40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</a:pPr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5536" y="1600200"/>
            <a:ext cx="8291264" cy="4525963"/>
          </a:xfrm>
        </p:spPr>
        <p:txBody>
          <a:bodyPr/>
          <a:lstStyle>
            <a:lvl1pPr algn="l" rtl="0"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rtl="0"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rtl="0"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rtl="0"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rtl="0">
              <a:defRPr lang="fr-FR" sz="28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 sz="40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</a:pPr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fr-FR" sz="28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fr-FR" sz="28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 dirty="0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 sz="40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</a:pPr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63252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63252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 sz="40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</a:pPr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כותרת, תוכן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>
            <a:lvl1pPr>
              <a:defRPr lang="he-IL" sz="40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</a:pPr>
            <a:r>
              <a:rPr lang="en-US" smtClean="0"/>
              <a:t>Click to edit Master title style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lang="he-IL" sz="28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כותרת, טקסט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>
            <a:lvl1pPr>
              <a:defRPr lang="he-IL" sz="4000" b="1" i="0" u="none" strike="noStrike" cap="none" baseline="0" dirty="0">
                <a:solidFill>
                  <a:srgbClr val="80A33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</a:pPr>
            <a:r>
              <a:rPr lang="en-US" smtClean="0"/>
              <a:t>Click to edit Master title style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CF3A-0C79-4256-A6A0-811EA95D58C9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18/05/2014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357F2-9416-4137-8D82-6AD55D9799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5" descr="img-logo-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96377"/>
            <a:ext cx="1102019" cy="928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E6FCF3A-0C79-4256-A6A0-811EA95D58C9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EB357F2-9416-4137-8D82-6AD55D979900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1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E6FCF3A-0C79-4256-A6A0-811EA95D58C9}" type="datetimeFigureOut">
              <a:rPr lang="fr-FR" smtClean="0"/>
              <a:pPr>
                <a:defRPr/>
              </a:pPr>
              <a:t>18/05/2014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EB357F2-9416-4137-8D82-6AD55D979900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iming>
    <p:tnLst>
      <p:par>
        <p:cTn id="1" dur="indefinite" restart="never" nodeType="tmRoot"/>
      </p:par>
    </p:tnLst>
  </p:timing>
  <p:txStyles>
    <p:titleStyle>
      <a:lvl1pPr algn="ctr" rtl="1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קבצים</a:t>
            </a:r>
            <a:endParaRPr lang="he-IL" dirty="0"/>
          </a:p>
        </p:txBody>
      </p:sp>
      <p:sp>
        <p:nvSpPr>
          <p:cNvPr id="2051" name="Sous-titre 2"/>
          <p:cNvSpPr>
            <a:spLocks noGrp="1"/>
          </p:cNvSpPr>
          <p:nvPr>
            <p:ph type="subTitle" idx="1"/>
          </p:nvPr>
        </p:nvSpPr>
        <p:spPr>
          <a:xfrm>
            <a:off x="1371600" y="5470376"/>
            <a:ext cx="6400800" cy="766936"/>
          </a:xfrm>
        </p:spPr>
        <p:txBody>
          <a:bodyPr/>
          <a:lstStyle/>
          <a:p>
            <a:r>
              <a:rPr lang="he-IL" sz="2800" dirty="0" smtClean="0"/>
              <a:t>שיעור 10</a:t>
            </a:r>
            <a:endParaRPr lang="he-IL" sz="2800" dirty="0" smtClean="0">
              <a:solidFill>
                <a:srgbClr val="80A331"/>
              </a:solidFill>
            </a:endParaRPr>
          </a:p>
        </p:txBody>
      </p:sp>
      <p:pic>
        <p:nvPicPr>
          <p:cNvPr id="4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5150611"/>
            <a:ext cx="1066800" cy="140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9698" name="AutoShape 2" descr="http://pod.doe.in.gov/groups/learningconnectionhelp/wiki/8f52d/images/f1fd4.png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27" name="Picture 26" descr="f1fd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15310" y="2460342"/>
            <a:ext cx="2624842" cy="26248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4000" b="1" dirty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מה נלמד היום?</a:t>
            </a:r>
            <a:endParaRPr lang="fr-FR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– על מה ולמה?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טקסטואליים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algn="r" rtl="1"/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עבודה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עם קבצים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טקסטואליים ב-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algn="r" rtl="1"/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בינאריים</a:t>
            </a:r>
          </a:p>
          <a:p>
            <a:pPr algn="r" rtl="1"/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עבודה עם קבצים בינאריים ב-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algn="r" rtl="1"/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הזזת סמן</a:t>
            </a:r>
            <a:endParaRPr lang="he-IL" sz="2800" b="1" dirty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>
                <a:solidFill>
                  <a:schemeClr val="accent3">
                    <a:lumMod val="50000"/>
                  </a:schemeClr>
                </a:solidFill>
              </a:rPr>
              <a:t>על מה ולמה?</a:t>
            </a:r>
            <a:endParaRPr lang="he-I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2564904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קבצים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מבנה הזיכרון של התכנית - תזכורת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הכרנו במהלך השנה 4  אזורים בזיכרון בהן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רצה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התוכנית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שלנו</a:t>
            </a: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כל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האזורים הללו נמצאים ב-</a:t>
            </a:r>
            <a:r>
              <a:rPr lang="en-US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RAM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 (זיכרון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גישה אקראית).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זיכרון המאפשר למעבד לגשת לכל תא בזיכרון לפי כתובתו, לכתוב בו ולקרוא ממנו.</a:t>
            </a:r>
            <a:endParaRPr lang="he-IL" sz="2800" b="1" dirty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מלבן מעוגל 3"/>
          <p:cNvSpPr/>
          <p:nvPr/>
        </p:nvSpPr>
        <p:spPr>
          <a:xfrm>
            <a:off x="6804248" y="2205216"/>
            <a:ext cx="2088000" cy="316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2400" b="1" u="sng" dirty="0" smtClean="0"/>
              <a:t>Stack (</a:t>
            </a:r>
            <a:r>
              <a:rPr lang="he-IL" sz="2400" b="1" u="sng" dirty="0" smtClean="0"/>
              <a:t>מחסנית</a:t>
            </a:r>
            <a:r>
              <a:rPr lang="en-US" sz="2400" b="1" u="sng" dirty="0" smtClean="0"/>
              <a:t>)</a:t>
            </a:r>
          </a:p>
          <a:p>
            <a:pPr algn="ctr"/>
            <a:r>
              <a:rPr lang="he-IL" sz="2400" dirty="0" smtClean="0"/>
              <a:t>אזור הזיכרון בו מאוחסנים כל המשתנים שהגדרנו באופן </a:t>
            </a:r>
            <a:r>
              <a:rPr lang="he-IL" sz="2400" b="1" dirty="0" smtClean="0">
                <a:solidFill>
                  <a:schemeClr val="bg1"/>
                </a:solidFill>
              </a:rPr>
              <a:t>סטטי</a:t>
            </a:r>
            <a:r>
              <a:rPr lang="he-IL" sz="2400" dirty="0" smtClean="0"/>
              <a:t> בפונקציות</a:t>
            </a:r>
            <a:endParaRPr lang="he-IL" sz="2400" dirty="0"/>
          </a:p>
        </p:txBody>
      </p:sp>
      <p:sp>
        <p:nvSpPr>
          <p:cNvPr id="5" name="מלבן מעוגל 4"/>
          <p:cNvSpPr/>
          <p:nvPr/>
        </p:nvSpPr>
        <p:spPr>
          <a:xfrm>
            <a:off x="4620006" y="2205216"/>
            <a:ext cx="2088000" cy="316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2400" b="1" u="sng" dirty="0" smtClean="0"/>
              <a:t>Heap (</a:t>
            </a:r>
            <a:r>
              <a:rPr lang="he-IL" sz="2400" b="1" u="sng" dirty="0" smtClean="0"/>
              <a:t>ערימה</a:t>
            </a:r>
            <a:r>
              <a:rPr lang="en-US" sz="2400" b="1" u="sng" dirty="0" smtClean="0"/>
              <a:t>)</a:t>
            </a:r>
          </a:p>
          <a:p>
            <a:pPr algn="ctr" rtl="1"/>
            <a:r>
              <a:rPr lang="he-IL" sz="2400" dirty="0" smtClean="0"/>
              <a:t>אזור הזיכרון בו מאוחסנים כל המשתנים שהגדרנו באופן </a:t>
            </a:r>
            <a:r>
              <a:rPr lang="he-IL" sz="2400" b="1" dirty="0" smtClean="0"/>
              <a:t>דינאמי</a:t>
            </a:r>
            <a:r>
              <a:rPr lang="he-IL" sz="2400" dirty="0" smtClean="0"/>
              <a:t> עם </a:t>
            </a:r>
            <a:r>
              <a:rPr lang="en-US" sz="2400" dirty="0" err="1" smtClean="0"/>
              <a:t>malloc</a:t>
            </a:r>
            <a:endParaRPr lang="he-IL" sz="2400" dirty="0"/>
          </a:p>
        </p:txBody>
      </p:sp>
      <p:sp>
        <p:nvSpPr>
          <p:cNvPr id="6" name="מלבן מעוגל 5"/>
          <p:cNvSpPr/>
          <p:nvPr/>
        </p:nvSpPr>
        <p:spPr>
          <a:xfrm>
            <a:off x="2435763" y="2205216"/>
            <a:ext cx="2088000" cy="316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2400" b="1" u="sng" dirty="0" smtClean="0"/>
              <a:t>Code (</a:t>
            </a:r>
            <a:r>
              <a:rPr lang="he-IL" sz="2400" b="1" u="sng" dirty="0" smtClean="0"/>
              <a:t>קוד</a:t>
            </a:r>
            <a:r>
              <a:rPr lang="en-US" sz="2400" b="1" u="sng" dirty="0" smtClean="0"/>
              <a:t>)</a:t>
            </a:r>
          </a:p>
          <a:p>
            <a:pPr algn="ctr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he-IL" sz="2400" dirty="0" smtClean="0"/>
              <a:t>אזור הזיכרון בו הקוד (המקומפל) שלנו נמצא בזמן הריצה</a:t>
            </a:r>
            <a:endParaRPr lang="he-IL" sz="2400" dirty="0"/>
          </a:p>
        </p:txBody>
      </p:sp>
      <p:sp>
        <p:nvSpPr>
          <p:cNvPr id="7" name="מלבן מעוגל 6"/>
          <p:cNvSpPr/>
          <p:nvPr/>
        </p:nvSpPr>
        <p:spPr>
          <a:xfrm>
            <a:off x="251520" y="2205216"/>
            <a:ext cx="2088000" cy="316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2400" b="1" u="sng" dirty="0" smtClean="0"/>
              <a:t>Data / Static Heap</a:t>
            </a:r>
          </a:p>
          <a:p>
            <a:pPr algn="ctr" rtl="1"/>
            <a:r>
              <a:rPr lang="he-IL" sz="2400" dirty="0" smtClean="0"/>
              <a:t>אזור בזיכרון בו נמצאים </a:t>
            </a:r>
            <a:r>
              <a:rPr lang="he-IL" sz="2400" b="1" dirty="0" smtClean="0"/>
              <a:t>המשתנים הקובעים </a:t>
            </a:r>
            <a:r>
              <a:rPr lang="he-IL" sz="2400" dirty="0" smtClean="0"/>
              <a:t>כמו </a:t>
            </a:r>
            <a:r>
              <a:rPr lang="en-US" sz="2400" dirty="0" smtClean="0"/>
              <a:t>const</a:t>
            </a:r>
            <a:r>
              <a:rPr lang="he-IL" sz="2400" dirty="0" smtClean="0"/>
              <a:t> או </a:t>
            </a:r>
            <a:r>
              <a:rPr lang="en-US" sz="2400" dirty="0" smtClean="0"/>
              <a:t>string </a:t>
            </a:r>
            <a:r>
              <a:rPr lang="en-US" sz="2400" dirty="0" err="1" smtClean="0"/>
              <a:t>litrerals</a:t>
            </a:r>
            <a:endParaRPr lang="he-IL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זיכרון גישה אקראית (</a:t>
            </a:r>
            <a:r>
              <a:rPr lang="en-US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RAM</a:t>
            </a:r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)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מה מאפיין זיכרון זה?</a:t>
            </a:r>
          </a:p>
          <a:p>
            <a:pPr lvl="1"/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מתי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הוא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עשוי לא להספיק לנו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?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כשנרצה להריץ תכנית שצורכות המון זיכרון / להריץ הרבה תכניות במקביל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כשנרצה לשמור מידע בין הרצות שונות של התוכנית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כשנרצה לשמור מידע גם אם המחשב כבה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אז מה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עושים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???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/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" name="מלבן מעוגל 3"/>
          <p:cNvSpPr/>
          <p:nvPr/>
        </p:nvSpPr>
        <p:spPr>
          <a:xfrm>
            <a:off x="6948264" y="1844824"/>
            <a:ext cx="1839612" cy="165618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 smtClean="0"/>
              <a:t>מהיר מאוד</a:t>
            </a:r>
            <a:endParaRPr lang="he-IL" sz="2400" dirty="0"/>
          </a:p>
        </p:txBody>
      </p:sp>
      <p:sp>
        <p:nvSpPr>
          <p:cNvPr id="5" name="מלבן מעוגל 4"/>
          <p:cNvSpPr/>
          <p:nvPr/>
        </p:nvSpPr>
        <p:spPr>
          <a:xfrm>
            <a:off x="4812026" y="1844824"/>
            <a:ext cx="1839612" cy="16561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כמות הזיכרון מצומצמת (במחשבים ביתיים 8/16 </a:t>
            </a:r>
            <a:r>
              <a:rPr lang="he-IL" sz="2000" b="1" dirty="0" err="1" smtClean="0"/>
              <a:t>ג'יגה</a:t>
            </a:r>
            <a:r>
              <a:rPr lang="he-IL" sz="2000" b="1" dirty="0" smtClean="0"/>
              <a:t>)</a:t>
            </a:r>
            <a:endParaRPr lang="he-IL" sz="2000" dirty="0"/>
          </a:p>
        </p:txBody>
      </p:sp>
      <p:sp>
        <p:nvSpPr>
          <p:cNvPr id="6" name="מלבן מעוגל 5"/>
          <p:cNvSpPr/>
          <p:nvPr/>
        </p:nvSpPr>
        <p:spPr>
          <a:xfrm>
            <a:off x="2675789" y="1844824"/>
            <a:ext cx="1839612" cy="16561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מתאפס ברגע שמכבים את המחשב</a:t>
            </a:r>
            <a:endParaRPr lang="he-IL" sz="2000" dirty="0"/>
          </a:p>
        </p:txBody>
      </p:sp>
      <p:sp>
        <p:nvSpPr>
          <p:cNvPr id="7" name="מלבן מעוגל 6"/>
          <p:cNvSpPr/>
          <p:nvPr/>
        </p:nvSpPr>
        <p:spPr>
          <a:xfrm>
            <a:off x="539552" y="1844824"/>
            <a:ext cx="1839612" cy="16561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"הולך לאיבוד" ברגע שהתוכנית מסיימת את ריצתה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xmlns="" val="424015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הם הדרך שלנו לשמור מידע על הכונן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הקשיח. עבודה איתם מאפשרת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לנו להתגבר על המגבלות שהיו לנו בעבודה עם זיכרון ה-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RAM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ניתן לקנות כוננים קשיחים ענקיים (2000 </a:t>
            </a:r>
            <a:r>
              <a:rPr lang="he-IL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ג'יגה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במחיר זול</a:t>
            </a:r>
          </a:p>
          <a:p>
            <a:pPr lvl="1">
              <a:buFont typeface="Wingdings" pitchFamily="2" charset="2"/>
              <a:buChar char="§"/>
            </a:pP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המידע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נשמר על הכונן גם לאחר שהתוכנית סיימה את ריצתה וגם לאחר שכיבינו את המחשב.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עם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זאת חשוב לשים לב כי הגישה לכונן הקשיח היא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איטית מאוד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ביחס לגישה לזיכרון ה-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RAM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.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לכן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לרוב מנסים להימנע מעבודה עם קבצים כאשר ישנם פתרונות מהירים יותר.</a:t>
            </a:r>
            <a:endParaRPr lang="he-IL" sz="2800" b="1" dirty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879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כותרת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/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My name is </a:t>
            </a:r>
            <a:r>
              <a:rPr lang="en-US" dirty="0" err="1" smtClean="0">
                <a:solidFill>
                  <a:schemeClr val="accent3">
                    <a:lumMod val="50000"/>
                  </a:schemeClr>
                </a:solidFill>
              </a:rPr>
              <a:t>Inigo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 Montoya. 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You killed my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father…</a:t>
            </a:r>
            <a:b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Prepare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to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die!</a:t>
            </a:r>
            <a:endParaRPr lang="he-IL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2636912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טקסטואליים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073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</a:t>
            </a:r>
            <a:r>
              <a:rPr lang="he-IL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טקסטואלים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כל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קובץ השמור על המחשב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מורכב מסדרת בתים הכתובים בזה אחר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זה. כלומר, אוסף מספרים בין 0 ל-255. 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כשפותחים קבצים בעזרת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notepad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אנו מתייחסים לכל הבתים הללו כאילו היו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char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-ים נפרדים מטבלת ה-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ASCII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טקסטואליים הם קבצים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שהתוכן שלהם מחולק לבתים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(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char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-ים)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הניתנים להדפסה</a:t>
            </a:r>
            <a:endParaRPr lang="he-IL" sz="2800" b="1" dirty="0" smtClean="0">
              <a:solidFill>
                <a:srgbClr val="FF0000"/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כלומר, כל 8 ביטים (בית) בקובץ מייצגים ערך בטבלת ה-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ASCII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הניתן להדפסה (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a-z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A-Z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0-9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תווי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סימן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#$%&amp;, רווחים וירידת שורה)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איזה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תווים לא ניתנים להדפסה?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כל הערכים האחרים מטבלת ה-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ASCII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: מקשי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החצים,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backspace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NULL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he-IL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וכו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'.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7469845" cy="471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96857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</a:t>
            </a:r>
            <a:r>
              <a:rPr lang="he-IL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טקסטואלים</a:t>
            </a:r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 - דוגמא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" y="1362075"/>
            <a:ext cx="8115300" cy="4133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14" name="קבוצה 13"/>
          <p:cNvGrpSpPr/>
          <p:nvPr/>
        </p:nvGrpSpPr>
        <p:grpSpPr>
          <a:xfrm>
            <a:off x="251520" y="2636912"/>
            <a:ext cx="2088232" cy="4032448"/>
            <a:chOff x="251520" y="2636912"/>
            <a:chExt cx="2088232" cy="4032448"/>
          </a:xfrm>
        </p:grpSpPr>
        <p:sp>
          <p:nvSpPr>
            <p:cNvPr id="5" name="מלבן 4"/>
            <p:cNvSpPr/>
            <p:nvPr/>
          </p:nvSpPr>
          <p:spPr>
            <a:xfrm>
              <a:off x="827584" y="2636912"/>
              <a:ext cx="864096" cy="288032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מלבן 7"/>
            <p:cNvSpPr/>
            <p:nvPr/>
          </p:nvSpPr>
          <p:spPr>
            <a:xfrm>
              <a:off x="251520" y="5517232"/>
              <a:ext cx="2088232" cy="11521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המספר הסידורי של הבית הראשון</a:t>
              </a:r>
              <a:r>
                <a:rPr lang="en-US" b="1" dirty="0" smtClean="0"/>
                <a:t> </a:t>
              </a:r>
              <a:r>
                <a:rPr lang="he-IL" b="1" dirty="0" smtClean="0"/>
                <a:t> </a:t>
              </a:r>
              <a:r>
                <a:rPr lang="he-IL" b="1" dirty="0" smtClean="0"/>
                <a:t>(המופיע בעמודה 0)</a:t>
              </a:r>
              <a:endParaRPr lang="he-IL" b="1" dirty="0"/>
            </a:p>
          </p:txBody>
        </p:sp>
        <p:cxnSp>
          <p:nvCxnSpPr>
            <p:cNvPr id="10" name="מחבר חץ ישר 9"/>
            <p:cNvCxnSpPr/>
            <p:nvPr/>
          </p:nvCxnSpPr>
          <p:spPr>
            <a:xfrm>
              <a:off x="1691680" y="2708920"/>
              <a:ext cx="1440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מחבר חץ ישר 12"/>
            <p:cNvCxnSpPr/>
            <p:nvPr/>
          </p:nvCxnSpPr>
          <p:spPr>
            <a:xfrm>
              <a:off x="1691680" y="2924944"/>
              <a:ext cx="1440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קבוצה 16"/>
          <p:cNvGrpSpPr/>
          <p:nvPr/>
        </p:nvGrpSpPr>
        <p:grpSpPr>
          <a:xfrm>
            <a:off x="179512" y="188640"/>
            <a:ext cx="1584176" cy="1440160"/>
            <a:chOff x="179512" y="188640"/>
            <a:chExt cx="1584176" cy="1440160"/>
          </a:xfrm>
        </p:grpSpPr>
        <p:sp>
          <p:nvSpPr>
            <p:cNvPr id="15" name="מלבן 14"/>
            <p:cNvSpPr/>
            <p:nvPr/>
          </p:nvSpPr>
          <p:spPr>
            <a:xfrm>
              <a:off x="467544" y="1340768"/>
              <a:ext cx="1008112" cy="288032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מלבן 15"/>
            <p:cNvSpPr/>
            <p:nvPr/>
          </p:nvSpPr>
          <p:spPr>
            <a:xfrm>
              <a:off x="179512" y="188640"/>
              <a:ext cx="1584176" cy="11521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en-US" b="1" dirty="0" smtClean="0"/>
                <a:t>Hex Workshop</a:t>
              </a:r>
            </a:p>
            <a:p>
              <a:pPr algn="ctr" rtl="1"/>
              <a:r>
                <a:rPr lang="he-IL" b="1" dirty="0" smtClean="0"/>
                <a:t>תוכנה לניתוח ועריכת קבצים ברמת הביטים</a:t>
              </a:r>
              <a:endParaRPr lang="he-IL" b="1" dirty="0"/>
            </a:p>
          </p:txBody>
        </p:sp>
      </p:grpSp>
      <p:grpSp>
        <p:nvGrpSpPr>
          <p:cNvPr id="31" name="קבוצה 30"/>
          <p:cNvGrpSpPr/>
          <p:nvPr/>
        </p:nvGrpSpPr>
        <p:grpSpPr>
          <a:xfrm>
            <a:off x="1835696" y="2636912"/>
            <a:ext cx="4464496" cy="4032448"/>
            <a:chOff x="1835696" y="2636912"/>
            <a:chExt cx="4464496" cy="4032448"/>
          </a:xfrm>
        </p:grpSpPr>
        <p:sp>
          <p:nvSpPr>
            <p:cNvPr id="18" name="מלבן 17"/>
            <p:cNvSpPr/>
            <p:nvPr/>
          </p:nvSpPr>
          <p:spPr>
            <a:xfrm>
              <a:off x="2555776" y="5517232"/>
              <a:ext cx="3744416" cy="1152128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התוכן של קובץ טקסטואלי</a:t>
              </a:r>
              <a:r>
                <a:rPr lang="en-US" b="1" dirty="0" smtClean="0"/>
                <a:t/>
              </a:r>
              <a:br>
                <a:rPr lang="en-US" b="1" dirty="0" smtClean="0"/>
              </a:br>
              <a:r>
                <a:rPr lang="he-IL" b="1" dirty="0" smtClean="0"/>
                <a:t>מחולק לבתים.</a:t>
              </a:r>
            </a:p>
            <a:p>
              <a:pPr algn="ctr" rtl="1"/>
              <a:r>
                <a:rPr lang="he-IL" b="1" dirty="0" smtClean="0"/>
                <a:t>פה הערך של כל בית מיוצג ע"י שני תווים ב-</a:t>
              </a:r>
              <a:r>
                <a:rPr lang="en-US" b="1" dirty="0" smtClean="0"/>
                <a:t>hexadecimal</a:t>
              </a:r>
              <a:r>
                <a:rPr lang="he-IL" b="1" dirty="0" smtClean="0"/>
                <a:t>.</a:t>
              </a:r>
              <a:endParaRPr lang="he-IL" b="1" dirty="0"/>
            </a:p>
          </p:txBody>
        </p:sp>
        <p:sp>
          <p:nvSpPr>
            <p:cNvPr id="19" name="מלבן 18"/>
            <p:cNvSpPr/>
            <p:nvPr/>
          </p:nvSpPr>
          <p:spPr>
            <a:xfrm>
              <a:off x="1835696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0" name="מלבן 19"/>
            <p:cNvSpPr/>
            <p:nvPr/>
          </p:nvSpPr>
          <p:spPr>
            <a:xfrm>
              <a:off x="2152531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מלבן 20"/>
            <p:cNvSpPr/>
            <p:nvPr/>
          </p:nvSpPr>
          <p:spPr>
            <a:xfrm>
              <a:off x="2469366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/>
            <p:cNvSpPr/>
            <p:nvPr/>
          </p:nvSpPr>
          <p:spPr>
            <a:xfrm>
              <a:off x="2786201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/>
            <p:cNvSpPr/>
            <p:nvPr/>
          </p:nvSpPr>
          <p:spPr>
            <a:xfrm>
              <a:off x="3103036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מלבן 23"/>
            <p:cNvSpPr/>
            <p:nvPr/>
          </p:nvSpPr>
          <p:spPr>
            <a:xfrm>
              <a:off x="3419872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5" name="מלבן 24"/>
            <p:cNvSpPr/>
            <p:nvPr/>
          </p:nvSpPr>
          <p:spPr>
            <a:xfrm>
              <a:off x="3419872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6" name="מלבן 25"/>
            <p:cNvSpPr/>
            <p:nvPr/>
          </p:nvSpPr>
          <p:spPr>
            <a:xfrm>
              <a:off x="3736707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7" name="מלבן 26"/>
            <p:cNvSpPr/>
            <p:nvPr/>
          </p:nvSpPr>
          <p:spPr>
            <a:xfrm>
              <a:off x="4053542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8" name="מלבן 27"/>
            <p:cNvSpPr/>
            <p:nvPr/>
          </p:nvSpPr>
          <p:spPr>
            <a:xfrm>
              <a:off x="4370377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9" name="מלבן 28"/>
            <p:cNvSpPr/>
            <p:nvPr/>
          </p:nvSpPr>
          <p:spPr>
            <a:xfrm>
              <a:off x="4687212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0" name="מלבן 29"/>
            <p:cNvSpPr/>
            <p:nvPr/>
          </p:nvSpPr>
          <p:spPr>
            <a:xfrm>
              <a:off x="5004048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64" name="קבוצה 63"/>
          <p:cNvGrpSpPr/>
          <p:nvPr/>
        </p:nvGrpSpPr>
        <p:grpSpPr>
          <a:xfrm>
            <a:off x="6516216" y="2636912"/>
            <a:ext cx="2304256" cy="4032448"/>
            <a:chOff x="6516216" y="2636912"/>
            <a:chExt cx="2304256" cy="4032448"/>
          </a:xfrm>
        </p:grpSpPr>
        <p:grpSp>
          <p:nvGrpSpPr>
            <p:cNvPr id="53" name="קבוצה 52"/>
            <p:cNvGrpSpPr/>
            <p:nvPr/>
          </p:nvGrpSpPr>
          <p:grpSpPr>
            <a:xfrm>
              <a:off x="6948264" y="2636912"/>
              <a:ext cx="1224136" cy="2880320"/>
              <a:chOff x="6948264" y="2636912"/>
              <a:chExt cx="1224136" cy="2880320"/>
            </a:xfrm>
            <a:solidFill>
              <a:srgbClr val="80A331">
                <a:alpha val="25000"/>
              </a:srgbClr>
            </a:solidFill>
          </p:grpSpPr>
          <p:sp>
            <p:nvSpPr>
              <p:cNvPr id="32" name="מלבן 31"/>
              <p:cNvSpPr/>
              <p:nvPr/>
            </p:nvSpPr>
            <p:spPr>
              <a:xfrm>
                <a:off x="6948264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3" name="מלבן 32"/>
              <p:cNvSpPr/>
              <p:nvPr/>
            </p:nvSpPr>
            <p:spPr>
              <a:xfrm>
                <a:off x="7052276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" name="מלבן 34"/>
              <p:cNvSpPr/>
              <p:nvPr/>
            </p:nvSpPr>
            <p:spPr>
              <a:xfrm>
                <a:off x="7156288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" name="מלבן 35"/>
              <p:cNvSpPr/>
              <p:nvPr/>
            </p:nvSpPr>
            <p:spPr>
              <a:xfrm>
                <a:off x="7260300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7" name="מלבן 36"/>
              <p:cNvSpPr/>
              <p:nvPr/>
            </p:nvSpPr>
            <p:spPr>
              <a:xfrm>
                <a:off x="7364312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8" name="מלבן 37"/>
              <p:cNvSpPr/>
              <p:nvPr/>
            </p:nvSpPr>
            <p:spPr>
              <a:xfrm>
                <a:off x="7468324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9" name="מלבן 38"/>
              <p:cNvSpPr/>
              <p:nvPr/>
            </p:nvSpPr>
            <p:spPr>
              <a:xfrm>
                <a:off x="7572336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0" name="מלבן 39"/>
              <p:cNvSpPr/>
              <p:nvPr/>
            </p:nvSpPr>
            <p:spPr>
              <a:xfrm>
                <a:off x="7676348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1" name="מלבן 40"/>
              <p:cNvSpPr/>
              <p:nvPr/>
            </p:nvSpPr>
            <p:spPr>
              <a:xfrm>
                <a:off x="7780360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2" name="מלבן 41"/>
              <p:cNvSpPr/>
              <p:nvPr/>
            </p:nvSpPr>
            <p:spPr>
              <a:xfrm>
                <a:off x="7884376" y="263691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3" name="מלבן 42"/>
              <p:cNvSpPr/>
              <p:nvPr/>
            </p:nvSpPr>
            <p:spPr>
              <a:xfrm>
                <a:off x="7164288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4" name="מלבן 43"/>
              <p:cNvSpPr/>
              <p:nvPr/>
            </p:nvSpPr>
            <p:spPr>
              <a:xfrm>
                <a:off x="7268300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5" name="מלבן 44"/>
              <p:cNvSpPr/>
              <p:nvPr/>
            </p:nvSpPr>
            <p:spPr>
              <a:xfrm>
                <a:off x="7372312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מלבן 45"/>
              <p:cNvSpPr/>
              <p:nvPr/>
            </p:nvSpPr>
            <p:spPr>
              <a:xfrm>
                <a:off x="7476324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7" name="מלבן 46"/>
              <p:cNvSpPr/>
              <p:nvPr/>
            </p:nvSpPr>
            <p:spPr>
              <a:xfrm>
                <a:off x="7580336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8" name="מלבן 47"/>
              <p:cNvSpPr/>
              <p:nvPr/>
            </p:nvSpPr>
            <p:spPr>
              <a:xfrm>
                <a:off x="7684348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9" name="מלבן 48"/>
              <p:cNvSpPr/>
              <p:nvPr/>
            </p:nvSpPr>
            <p:spPr>
              <a:xfrm>
                <a:off x="7788360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0" name="מלבן 49"/>
              <p:cNvSpPr/>
              <p:nvPr/>
            </p:nvSpPr>
            <p:spPr>
              <a:xfrm>
                <a:off x="7892372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מלבן 50"/>
              <p:cNvSpPr/>
              <p:nvPr/>
            </p:nvSpPr>
            <p:spPr>
              <a:xfrm>
                <a:off x="7996384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2" name="מלבן 51"/>
              <p:cNvSpPr/>
              <p:nvPr/>
            </p:nvSpPr>
            <p:spPr>
              <a:xfrm>
                <a:off x="8100400" y="5373232"/>
                <a:ext cx="72000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54" name="מלבן 53"/>
            <p:cNvSpPr/>
            <p:nvPr/>
          </p:nvSpPr>
          <p:spPr>
            <a:xfrm>
              <a:off x="6516216" y="5517232"/>
              <a:ext cx="2304256" cy="115212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כל בית בקובץ טקסטואלי מייצג ערך </a:t>
              </a:r>
              <a:r>
                <a:rPr lang="en-US" b="1" dirty="0" smtClean="0"/>
                <a:t>ASCII</a:t>
              </a:r>
              <a:r>
                <a:rPr lang="he-IL" b="1" dirty="0" smtClean="0"/>
                <a:t> הניתן להדפסה</a:t>
              </a:r>
              <a:endParaRPr lang="he-IL" b="1" dirty="0"/>
            </a:p>
          </p:txBody>
        </p:sp>
      </p:grpSp>
      <p:grpSp>
        <p:nvGrpSpPr>
          <p:cNvPr id="67" name="קבוצה 66"/>
          <p:cNvGrpSpPr/>
          <p:nvPr/>
        </p:nvGrpSpPr>
        <p:grpSpPr>
          <a:xfrm>
            <a:off x="1835696" y="2852936"/>
            <a:ext cx="5496608" cy="2280270"/>
            <a:chOff x="1835696" y="2852936"/>
            <a:chExt cx="5496608" cy="2280270"/>
          </a:xfrm>
        </p:grpSpPr>
        <p:grpSp>
          <p:nvGrpSpPr>
            <p:cNvPr id="65" name="קבוצה 64"/>
            <p:cNvGrpSpPr/>
            <p:nvPr/>
          </p:nvGrpSpPr>
          <p:grpSpPr>
            <a:xfrm>
              <a:off x="1835696" y="2852936"/>
              <a:ext cx="5496608" cy="1152128"/>
              <a:chOff x="1835696" y="2852936"/>
              <a:chExt cx="5496608" cy="1152128"/>
            </a:xfrm>
          </p:grpSpPr>
          <p:sp>
            <p:nvSpPr>
              <p:cNvPr id="55" name="מלבן 54"/>
              <p:cNvSpPr/>
              <p:nvPr/>
            </p:nvSpPr>
            <p:spPr>
              <a:xfrm>
                <a:off x="4355976" y="2852936"/>
                <a:ext cx="2304256" cy="115212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1"/>
                <a:r>
                  <a:rPr lang="he-IL" b="1" dirty="0" smtClean="0"/>
                  <a:t>או... ירידת שורה (במקרה זה ירדנו שתי שורות)</a:t>
                </a:r>
                <a:endParaRPr lang="he-IL" b="1" dirty="0"/>
              </a:p>
            </p:txBody>
          </p:sp>
          <p:sp>
            <p:nvSpPr>
              <p:cNvPr id="56" name="מלבן 55"/>
              <p:cNvSpPr/>
              <p:nvPr/>
            </p:nvSpPr>
            <p:spPr>
              <a:xfrm>
                <a:off x="6948264" y="2996968"/>
                <a:ext cx="72000" cy="144000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7" name="מלבן 56"/>
              <p:cNvSpPr/>
              <p:nvPr/>
            </p:nvSpPr>
            <p:spPr>
              <a:xfrm>
                <a:off x="7052276" y="2996968"/>
                <a:ext cx="72000" cy="144000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8" name="מלבן 57"/>
              <p:cNvSpPr/>
              <p:nvPr/>
            </p:nvSpPr>
            <p:spPr>
              <a:xfrm>
                <a:off x="7156288" y="2996968"/>
                <a:ext cx="72000" cy="144000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9" name="מלבן 58"/>
              <p:cNvSpPr/>
              <p:nvPr/>
            </p:nvSpPr>
            <p:spPr>
              <a:xfrm>
                <a:off x="7260304" y="2996968"/>
                <a:ext cx="72000" cy="144000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0" name="מלבן 59"/>
              <p:cNvSpPr/>
              <p:nvPr/>
            </p:nvSpPr>
            <p:spPr>
              <a:xfrm>
                <a:off x="1835696" y="2996952"/>
                <a:ext cx="216024" cy="216024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61" name="מלבן 60"/>
              <p:cNvSpPr/>
              <p:nvPr/>
            </p:nvSpPr>
            <p:spPr>
              <a:xfrm>
                <a:off x="2152531" y="2996952"/>
                <a:ext cx="216024" cy="216024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62" name="מלבן 61"/>
              <p:cNvSpPr/>
              <p:nvPr/>
            </p:nvSpPr>
            <p:spPr>
              <a:xfrm>
                <a:off x="2469366" y="2996952"/>
                <a:ext cx="216024" cy="216024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63" name="מלבן 62"/>
              <p:cNvSpPr/>
              <p:nvPr/>
            </p:nvSpPr>
            <p:spPr>
              <a:xfrm>
                <a:off x="2786201" y="2996952"/>
                <a:ext cx="216024" cy="216024"/>
              </a:xfrm>
              <a:prstGeom prst="rect">
                <a:avLst/>
              </a:prstGeom>
              <a:solidFill>
                <a:schemeClr val="accent6">
                  <a:lumMod val="75000"/>
                  <a:alpha val="2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59832" y="3645024"/>
              <a:ext cx="1990148" cy="14881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xmlns="" val="347309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3801021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עבודה עם </a:t>
            </a: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קבצים טקסטואליים </a:t>
            </a: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בשפת </a:t>
            </a:r>
            <a:r>
              <a:rPr lang="en-US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C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560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ב-</a:t>
            </a:r>
            <a:r>
              <a:rPr lang="en-US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C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בשפת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קבצים מוגדרים ע"י מבנה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(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struct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בשם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מבנה זה מוגדר בספריה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stdio.h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והוא כולל מספר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משתנים (על חלקם נדבר בהמשך...)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בנוסף, הוגדרו מספר פונקציות המאפשרות לנו לעבוד עם קבצים. כל הפונקציות הללו מופיעות אף הן בספריה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stdio.h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.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נכיר כעת מספר פונקציות לעבודה עם קבצים טקסטואליים: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open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close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getc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putc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sc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anf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printf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8" end="3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פתיחת קובץ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fopen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על מנת לעבוד עם קובץ יש להריץ את הפונקציה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פרמטרי קלט: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filename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– מחרוזת (עם התו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\0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בסוף) המייצגת את שם הקובץ שברצוננו לפתוח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m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ode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– מחרוזת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(עם התו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\0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בסוף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המייצגת את סוג העבודה שלנו עם הקובץ:קריאה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בלבד,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כתיבה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בלבד,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קריאה וכתיבה ועוד...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פרמטר החזרה:</a:t>
            </a:r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מצביע למבנה מסוג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אם הקובץ לא הצליח להיפתח מוחזר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NULL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שאלה: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האם ה-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שמוחזר הוקצה ב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heap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או ב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stack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?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225" y="1916832"/>
            <a:ext cx="782955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פתיחת קובץ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fopen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הפרמטרים שהמשתנה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mode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יכול לקבל:</a:t>
            </a: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אם הפתיחה נכשלת (אם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לא קיים קובץ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בפקודות קריאה, אין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לנו הרשאות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מתאימות, סיבות אחרות) יוחזר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NULL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.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>
              <a:buNone/>
            </a:pP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6165304"/>
            <a:ext cx="782955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17" name="קבוצה 16"/>
          <p:cNvGrpSpPr/>
          <p:nvPr/>
        </p:nvGrpSpPr>
        <p:grpSpPr>
          <a:xfrm>
            <a:off x="107504" y="1772816"/>
            <a:ext cx="8928992" cy="468000"/>
            <a:chOff x="107504" y="1772816"/>
            <a:chExt cx="8928992" cy="468000"/>
          </a:xfrm>
        </p:grpSpPr>
        <p:sp>
          <p:nvSpPr>
            <p:cNvPr id="5" name="מלבן 4"/>
            <p:cNvSpPr/>
            <p:nvPr/>
          </p:nvSpPr>
          <p:spPr>
            <a:xfrm>
              <a:off x="7668344" y="1772816"/>
              <a:ext cx="1368152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 smtClean="0"/>
                <a:t>“r”</a:t>
              </a:r>
              <a:endParaRPr lang="he-IL" sz="2800" dirty="0"/>
            </a:p>
          </p:txBody>
        </p:sp>
        <p:sp>
          <p:nvSpPr>
            <p:cNvPr id="6" name="מלבן 5"/>
            <p:cNvSpPr/>
            <p:nvPr/>
          </p:nvSpPr>
          <p:spPr>
            <a:xfrm>
              <a:off x="107504" y="1772816"/>
              <a:ext cx="7488000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r>
                <a:rPr lang="en-US" sz="2000" dirty="0" smtClean="0"/>
                <a:t>Read</a:t>
              </a:r>
              <a:r>
                <a:rPr lang="he-IL" sz="2000" dirty="0" smtClean="0"/>
                <a:t> - פתיחת קובץ קיים לקריאה בלבד.</a:t>
              </a:r>
              <a:r>
                <a:rPr lang="he-IL" sz="2000" dirty="0" smtClean="0"/>
                <a:t> </a:t>
              </a:r>
              <a:r>
                <a:rPr lang="he-IL" sz="2000" dirty="0" smtClean="0"/>
                <a:t>הקובץ </a:t>
              </a:r>
              <a:r>
                <a:rPr lang="he-IL" sz="2000" b="1" dirty="0" smtClean="0"/>
                <a:t>חייב</a:t>
              </a:r>
              <a:r>
                <a:rPr lang="he-IL" sz="2000" dirty="0" smtClean="0"/>
                <a:t> להיות קיים.</a:t>
              </a:r>
              <a:endParaRPr lang="he-IL" sz="2000" dirty="0"/>
            </a:p>
          </p:txBody>
        </p:sp>
      </p:grpSp>
      <p:grpSp>
        <p:nvGrpSpPr>
          <p:cNvPr id="18" name="קבוצה 17"/>
          <p:cNvGrpSpPr/>
          <p:nvPr/>
        </p:nvGrpSpPr>
        <p:grpSpPr>
          <a:xfrm>
            <a:off x="107504" y="2312928"/>
            <a:ext cx="8928992" cy="720080"/>
            <a:chOff x="107504" y="2312928"/>
            <a:chExt cx="8928992" cy="720080"/>
          </a:xfrm>
        </p:grpSpPr>
        <p:sp>
          <p:nvSpPr>
            <p:cNvPr id="7" name="מלבן 6"/>
            <p:cNvSpPr/>
            <p:nvPr/>
          </p:nvSpPr>
          <p:spPr>
            <a:xfrm>
              <a:off x="7668344" y="2312928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 smtClean="0"/>
                <a:t>“w”</a:t>
              </a:r>
              <a:endParaRPr lang="he-IL" sz="2800" dirty="0"/>
            </a:p>
          </p:txBody>
        </p:sp>
        <p:sp>
          <p:nvSpPr>
            <p:cNvPr id="8" name="מלבן 7"/>
            <p:cNvSpPr/>
            <p:nvPr/>
          </p:nvSpPr>
          <p:spPr>
            <a:xfrm>
              <a:off x="107504" y="2312928"/>
              <a:ext cx="7488000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r>
                <a:rPr lang="en-US" sz="2000" dirty="0" smtClean="0"/>
                <a:t>Write</a:t>
              </a:r>
              <a:r>
                <a:rPr lang="he-IL" sz="2000" dirty="0" smtClean="0"/>
                <a:t> - פתיחת קובץ חדש (ריק) לכתיבה בלבד.</a:t>
              </a:r>
              <a:r>
                <a:rPr lang="en-US" sz="2000" dirty="0" smtClean="0"/>
                <a:t> </a:t>
              </a:r>
              <a:r>
                <a:rPr lang="he-IL" sz="2000" dirty="0" smtClean="0"/>
                <a:t> אם כבר קיים קובץ בשם הזה, תוכנו ימחק </a:t>
              </a:r>
              <a:r>
                <a:rPr lang="he-IL" sz="2000" dirty="0" err="1" smtClean="0"/>
                <a:t>ויווצר</a:t>
              </a:r>
              <a:r>
                <a:rPr lang="he-IL" sz="2000" dirty="0" smtClean="0"/>
                <a:t> במקומו קובץ חדש ריק.</a:t>
              </a:r>
              <a:endParaRPr lang="he-IL" sz="2000" dirty="0"/>
            </a:p>
          </p:txBody>
        </p:sp>
      </p:grpSp>
      <p:grpSp>
        <p:nvGrpSpPr>
          <p:cNvPr id="19" name="קבוצה 18"/>
          <p:cNvGrpSpPr/>
          <p:nvPr/>
        </p:nvGrpSpPr>
        <p:grpSpPr>
          <a:xfrm>
            <a:off x="107504" y="3105016"/>
            <a:ext cx="8928992" cy="720080"/>
            <a:chOff x="107504" y="3105016"/>
            <a:chExt cx="8928992" cy="720080"/>
          </a:xfrm>
        </p:grpSpPr>
        <p:sp>
          <p:nvSpPr>
            <p:cNvPr id="9" name="מלבן 8"/>
            <p:cNvSpPr/>
            <p:nvPr/>
          </p:nvSpPr>
          <p:spPr>
            <a:xfrm>
              <a:off x="7668344" y="3105016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 smtClean="0"/>
                <a:t>“a”</a:t>
              </a:r>
              <a:endParaRPr lang="he-IL" sz="2800" dirty="0"/>
            </a:p>
          </p:txBody>
        </p:sp>
        <p:sp>
          <p:nvSpPr>
            <p:cNvPr id="10" name="מלבן 9"/>
            <p:cNvSpPr/>
            <p:nvPr/>
          </p:nvSpPr>
          <p:spPr>
            <a:xfrm>
              <a:off x="107504" y="3105016"/>
              <a:ext cx="7488000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r>
                <a:rPr lang="en-US" sz="2000" dirty="0" smtClean="0"/>
                <a:t>Append</a:t>
              </a:r>
              <a:r>
                <a:rPr lang="he-IL" sz="2000" dirty="0" smtClean="0"/>
                <a:t> - פתיחת קובץ קיים/חדש לכתיבה (בלבד) בסוף הקובץ. התוכן הישן יישמר ותוכן חדש יוכנס לסוף הקובץ. אם הקובץ לא קיים, </a:t>
              </a:r>
              <a:r>
                <a:rPr lang="he-IL" sz="2000" dirty="0" err="1" smtClean="0"/>
                <a:t>יווצר</a:t>
              </a:r>
              <a:r>
                <a:rPr lang="he-IL" sz="2000" dirty="0" smtClean="0"/>
                <a:t> קובץ חדש.</a:t>
              </a:r>
              <a:endParaRPr lang="he-IL" sz="2000" dirty="0"/>
            </a:p>
          </p:txBody>
        </p:sp>
      </p:grpSp>
      <p:grpSp>
        <p:nvGrpSpPr>
          <p:cNvPr id="20" name="קבוצה 19"/>
          <p:cNvGrpSpPr/>
          <p:nvPr/>
        </p:nvGrpSpPr>
        <p:grpSpPr>
          <a:xfrm>
            <a:off x="107504" y="3897104"/>
            <a:ext cx="8928992" cy="468000"/>
            <a:chOff x="107504" y="3897104"/>
            <a:chExt cx="8928992" cy="468000"/>
          </a:xfrm>
        </p:grpSpPr>
        <p:sp>
          <p:nvSpPr>
            <p:cNvPr id="11" name="מלבן 10"/>
            <p:cNvSpPr/>
            <p:nvPr/>
          </p:nvSpPr>
          <p:spPr>
            <a:xfrm>
              <a:off x="7668344" y="3897104"/>
              <a:ext cx="1368152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 smtClean="0"/>
                <a:t>“r+”</a:t>
              </a:r>
              <a:endParaRPr lang="he-IL" sz="2800" dirty="0"/>
            </a:p>
          </p:txBody>
        </p:sp>
        <p:sp>
          <p:nvSpPr>
            <p:cNvPr id="12" name="מלבן 11"/>
            <p:cNvSpPr/>
            <p:nvPr/>
          </p:nvSpPr>
          <p:spPr>
            <a:xfrm>
              <a:off x="107504" y="3897104"/>
              <a:ext cx="7488000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r>
                <a:rPr lang="en-US" sz="2000" dirty="0" smtClean="0"/>
                <a:t>Read/Update</a:t>
              </a:r>
              <a:r>
                <a:rPr lang="he-IL" sz="2000" dirty="0" smtClean="0"/>
                <a:t> - פתיחת קובץ קיים לקריאה וכתיבה. הקובץ חייב להיות קיים.</a:t>
              </a:r>
              <a:endParaRPr lang="he-IL" sz="2000" dirty="0"/>
            </a:p>
          </p:txBody>
        </p:sp>
      </p:grpSp>
      <p:grpSp>
        <p:nvGrpSpPr>
          <p:cNvPr id="21" name="קבוצה 20"/>
          <p:cNvGrpSpPr/>
          <p:nvPr/>
        </p:nvGrpSpPr>
        <p:grpSpPr>
          <a:xfrm>
            <a:off x="107504" y="4437112"/>
            <a:ext cx="8928992" cy="720080"/>
            <a:chOff x="107504" y="4437112"/>
            <a:chExt cx="8928992" cy="720080"/>
          </a:xfrm>
        </p:grpSpPr>
        <p:sp>
          <p:nvSpPr>
            <p:cNvPr id="13" name="מלבן 12"/>
            <p:cNvSpPr/>
            <p:nvPr/>
          </p:nvSpPr>
          <p:spPr>
            <a:xfrm>
              <a:off x="7668344" y="4437112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 smtClean="0"/>
                <a:t>“w+”</a:t>
              </a:r>
              <a:endParaRPr lang="he-IL" sz="2800" dirty="0"/>
            </a:p>
          </p:txBody>
        </p:sp>
        <p:sp>
          <p:nvSpPr>
            <p:cNvPr id="14" name="מלבן 13"/>
            <p:cNvSpPr/>
            <p:nvPr/>
          </p:nvSpPr>
          <p:spPr>
            <a:xfrm>
              <a:off x="107504" y="4437112"/>
              <a:ext cx="7488000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r>
                <a:rPr lang="en-US" sz="2000" dirty="0" smtClean="0"/>
                <a:t>Write/Update</a:t>
              </a:r>
              <a:r>
                <a:rPr lang="he-IL" sz="2000" dirty="0" smtClean="0"/>
                <a:t> </a:t>
              </a:r>
              <a:r>
                <a:rPr lang="he-IL" sz="2000" dirty="0" smtClean="0"/>
                <a:t>- </a:t>
              </a:r>
              <a:r>
                <a:rPr lang="he-IL" sz="2000" dirty="0" smtClean="0"/>
                <a:t>פתיחת קובץ חדש (ריק) לקריאה וכתיבה. </a:t>
              </a:r>
              <a:r>
                <a:rPr lang="he-IL" sz="2000" dirty="0" smtClean="0"/>
                <a:t>אם כבר קיים קובץ בשם הזה, תוכנו ימחק </a:t>
              </a:r>
              <a:r>
                <a:rPr lang="he-IL" sz="2000" dirty="0" err="1" smtClean="0"/>
                <a:t>ויווצר</a:t>
              </a:r>
              <a:r>
                <a:rPr lang="he-IL" sz="2000" dirty="0" smtClean="0"/>
                <a:t> במקומו קובץ חדש ריק.</a:t>
              </a:r>
              <a:endParaRPr lang="he-IL" sz="2000" dirty="0"/>
            </a:p>
          </p:txBody>
        </p:sp>
      </p:grpSp>
      <p:grpSp>
        <p:nvGrpSpPr>
          <p:cNvPr id="22" name="קבוצה 21"/>
          <p:cNvGrpSpPr/>
          <p:nvPr/>
        </p:nvGrpSpPr>
        <p:grpSpPr>
          <a:xfrm>
            <a:off x="107504" y="5229200"/>
            <a:ext cx="8928992" cy="720080"/>
            <a:chOff x="107504" y="5229200"/>
            <a:chExt cx="8928992" cy="720080"/>
          </a:xfrm>
        </p:grpSpPr>
        <p:sp>
          <p:nvSpPr>
            <p:cNvPr id="15" name="מלבן 14"/>
            <p:cNvSpPr/>
            <p:nvPr/>
          </p:nvSpPr>
          <p:spPr>
            <a:xfrm>
              <a:off x="7668344" y="5229200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 smtClean="0"/>
                <a:t>“a+”</a:t>
              </a:r>
              <a:endParaRPr lang="he-IL" sz="2800" dirty="0"/>
            </a:p>
          </p:txBody>
        </p:sp>
        <p:sp>
          <p:nvSpPr>
            <p:cNvPr id="16" name="מלבן 15"/>
            <p:cNvSpPr/>
            <p:nvPr/>
          </p:nvSpPr>
          <p:spPr>
            <a:xfrm>
              <a:off x="107504" y="5229200"/>
              <a:ext cx="7488000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r>
                <a:rPr lang="en-US" sz="2000" dirty="0" smtClean="0"/>
                <a:t>Append/Update</a:t>
              </a:r>
              <a:r>
                <a:rPr lang="he-IL" sz="2000" dirty="0" smtClean="0"/>
                <a:t> </a:t>
              </a:r>
              <a:r>
                <a:rPr lang="he-IL" sz="2000" dirty="0" smtClean="0"/>
                <a:t>- פתיחת קובץ קיים/חדש </a:t>
              </a:r>
              <a:r>
                <a:rPr lang="he-IL" sz="2000" dirty="0" smtClean="0"/>
                <a:t>לקריאה (מכל הקובץ) וכתיבה (בסוף הקובץ). אם </a:t>
              </a:r>
              <a:r>
                <a:rPr lang="he-IL" sz="2000" dirty="0" smtClean="0"/>
                <a:t>הקובץ לא קיים, </a:t>
              </a:r>
              <a:r>
                <a:rPr lang="he-IL" sz="2000" dirty="0" err="1" smtClean="0"/>
                <a:t>יווצר</a:t>
              </a:r>
              <a:r>
                <a:rPr lang="he-IL" sz="2000" dirty="0" smtClean="0"/>
                <a:t> קובץ חדש</a:t>
              </a:r>
              <a:r>
                <a:rPr lang="he-IL" sz="2000" dirty="0" smtClean="0"/>
                <a:t>.</a:t>
              </a:r>
              <a:endParaRPr lang="he-IL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פתיחת קובץ - דוגמאות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פתיחת קובץ בשם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temp.txt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לקריאה בלבד</a:t>
            </a: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פתיחת קובץ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cookie.txt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לכתיבה (עוגייה קיימת תימחק)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/>
            </a:r>
            <a:b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</a:b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/>
            </a:r>
            <a:b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</a:b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/>
            </a:r>
            <a:b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</a:b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נשים לב כי אם התוכנית שלנו במקום שונה מהקובץ צריך כתובת מלאה.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פתיחת קובץ בשם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log.txt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לכתיבה בסופו (לא נרצה למחוק תוכן קיים מה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log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</a:t>
            </a: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ניתן להוסיף את האות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‘t’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mode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כדי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להדגיש שמדובר בקובץ טקסטואלי</a:t>
            </a:r>
            <a:endParaRPr lang="he-IL" sz="2800" b="1" dirty="0" smtClean="0">
              <a:solidFill>
                <a:srgbClr val="FF0000"/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775" y="1844824"/>
            <a:ext cx="5438775" cy="390525"/>
          </a:xfrm>
          <a:prstGeom prst="rect">
            <a:avLst/>
          </a:prstGeom>
          <a:noFill/>
          <a:ln w="38100">
            <a:solidFill>
              <a:srgbClr val="92AB63"/>
            </a:solidFill>
            <a:miter lim="800000"/>
            <a:headEnd/>
            <a:tailEnd/>
          </a:ln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4775" y="2852936"/>
            <a:ext cx="7667625" cy="581025"/>
          </a:xfrm>
          <a:prstGeom prst="rect">
            <a:avLst/>
          </a:prstGeom>
          <a:noFill/>
          <a:ln w="38100">
            <a:solidFill>
              <a:srgbClr val="92AB63"/>
            </a:solidFill>
            <a:miter lim="800000"/>
            <a:headEnd/>
            <a:tailEnd/>
          </a:ln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4775" y="5517232"/>
            <a:ext cx="5153025" cy="295275"/>
          </a:xfrm>
          <a:prstGeom prst="rect">
            <a:avLst/>
          </a:prstGeom>
          <a:noFill/>
          <a:ln w="38100">
            <a:solidFill>
              <a:srgbClr val="92AB63"/>
            </a:solidFill>
            <a:miter lim="800000"/>
            <a:headEnd/>
            <a:tailEnd/>
          </a:ln>
        </p:spPr>
      </p:pic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859" y="1916832"/>
            <a:ext cx="5648325" cy="4095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55305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9552" y="2930649"/>
            <a:ext cx="7829550" cy="7143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55306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9552" y="5589240"/>
            <a:ext cx="5457825" cy="3524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סגירת קובץ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fclose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בסוף העבודה עם קובץ </a:t>
            </a: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חובה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להריץ את הפונקציה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fclose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הפונקציה מבצעת מספר פעולות חשובות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כיוון שפעולת הכתיבה לכונן הקשיח לוקחת הרבה זמן, לרוב מחכים עד שיצטבר הרבה תוכן לכתיבה ורק אז כותבים אותו.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fclose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דואגת לשמור בכונן הקשיח את כל השינויים בקובץ שטרם בוצעו.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fclose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אומרת למערכת ההפעלה כי סיימנו לעבוד עם הקובץ (אחרת לא ניתן יהיה למחוק את הקובץ או להעביר אותו תיקיה)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fclose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משחררת את הזיכרון הדינמי שהוקצה ב-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ע"י קריאה ל-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free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הפונקציה מקבלת פוינטר לקובץ. היא מחזירה 0 במקרה של הצלחה ו-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EOF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(קבוע שמוגדר לרוב כ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-1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במקרה של כשלון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itchFamily="2" charset="2"/>
              <a:buChar char="§"/>
            </a:pP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57475" y="1772816"/>
            <a:ext cx="3829050" cy="342900"/>
          </a:xfrm>
          <a:prstGeom prst="rect">
            <a:avLst/>
          </a:prstGeom>
          <a:noFill/>
          <a:ln w="38100">
            <a:solidFill>
              <a:srgbClr val="80A33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קריאה מקובץ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fgetc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4525963"/>
          </a:xfrm>
        </p:spPr>
        <p:txBody>
          <a:bodyPr/>
          <a:lstStyle/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לאחר שפתחנו קובץ עם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אנו יכולים לקרוא מתוכו תווים בעזרת הפונקציה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fgetc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(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 get char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אשר קוראת תו בודד מקובץ</a:t>
            </a:r>
          </a:p>
          <a:p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fgetc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מקבלת מצביע לקובץ ממנו ברצוננו לקרוא תו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הפונקציה מחזיר את התו שנקרא מהקובץ</a:t>
            </a:r>
          </a:p>
          <a:p>
            <a:pPr lvl="1">
              <a:buNone/>
            </a:pP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				משהו פה מוזר...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אם הפונקציה קוראת תו, למה שהיא תחזיר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int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?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אם הגענו לסוף הקובץ נרצה להחזיר תו מיוחד המסמל זאת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EOF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(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End Of File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).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יכולנו לקבוע זאת כתו מיוחד בטבל ה-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ASCII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(לדוג': הערך 1) אך זה לא אפשרי כפי שיובהר בהמשך.</a:t>
            </a:r>
            <a:endParaRPr lang="he-IL" sz="2400" b="1" dirty="0" smtClean="0">
              <a:solidFill>
                <a:srgbClr val="FF0000"/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במקום זאת הוחלט ש-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EOF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הוא קבוע שערכו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-1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ולכן הפונקציה מחזירה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int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.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25" y="2132856"/>
            <a:ext cx="3714750" cy="428625"/>
          </a:xfrm>
          <a:prstGeom prst="rect">
            <a:avLst/>
          </a:prstGeom>
          <a:noFill/>
          <a:ln w="38100">
            <a:solidFill>
              <a:srgbClr val="80A33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כתיבה לקובץ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fputc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לאחר שפתחנו קובץ עם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אנו יכולים לכתוב לתוכו תווים בעזרת הפונקציה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fputc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(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 put char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אשר כותבת תו בודד לקובץ</a:t>
            </a: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fputc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מקבלת כקלט את התו שברצוננו לכתוב, מבצעת עליו הסבה ל-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unsigned char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וכותבת את התוכן לקובץ שהמצביע שלו הוא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pFile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היא מחזירה את התו שנכתב במקרה של הצלחה או 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EOF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אם נכשלה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745110"/>
            <a:ext cx="5638800" cy="323850"/>
          </a:xfrm>
          <a:prstGeom prst="rect">
            <a:avLst/>
          </a:prstGeom>
          <a:noFill/>
          <a:ln w="38100">
            <a:solidFill>
              <a:srgbClr val="80A33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טקסטואליים – דוגמא 1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7654" y="1268760"/>
            <a:ext cx="5200650" cy="440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דוגמא 2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16016" y="1600200"/>
            <a:ext cx="3970784" cy="4525963"/>
          </a:xfrm>
        </p:spPr>
        <p:txBody>
          <a:bodyPr/>
          <a:lstStyle/>
          <a:p>
            <a:r>
              <a:rPr lang="he-IL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מה עושה התוכנית?</a:t>
            </a:r>
          </a:p>
          <a:p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יש לסגור את הקובץ הראשון שפתחנו במקרה שנכשלנו בפתיחה של השני</a:t>
            </a:r>
          </a:p>
          <a:p>
            <a:endParaRPr lang="he-IL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פעולת השמה בתוך התנאי (= במקום ==)</a:t>
            </a:r>
            <a:endParaRPr lang="he-IL" dirty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16632"/>
            <a:ext cx="4392488" cy="6688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מלבן 6"/>
          <p:cNvSpPr/>
          <p:nvPr/>
        </p:nvSpPr>
        <p:spPr>
          <a:xfrm>
            <a:off x="827584" y="3645024"/>
            <a:ext cx="1512168" cy="288032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7"/>
          <p:cNvSpPr/>
          <p:nvPr/>
        </p:nvSpPr>
        <p:spPr>
          <a:xfrm>
            <a:off x="1187624" y="4797152"/>
            <a:ext cx="2088232" cy="288032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 הפונקציות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fprint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</a:t>
            </a:r>
            <a:r>
              <a:rPr lang="en-US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,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fscanf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הפונקציות הללו עובדות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בדיוק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כמו הפונקציות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printf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ו-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scanf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הרגילות, אלא שהן כותבות לקובץ וקוראות מקובץ.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הקובץ שאיתו עובדים מועבר כפרמטר הראשון, שאר המשתנים הם כמו שאנחנו רגילים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  <a:sym typeface="Calibri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692696"/>
            <a:ext cx="5953125" cy="2314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3140968"/>
            <a:ext cx="8277225" cy="3533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כותרת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>
                <a:solidFill>
                  <a:schemeClr val="accent3">
                    <a:lumMod val="50000"/>
                  </a:schemeClr>
                </a:solidFill>
              </a:rPr>
              <a:t>0011101101011101000001101</a:t>
            </a:r>
            <a:endParaRPr lang="he-IL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2636912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קבצים בינאריים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073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בינאריים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בינאריים הם כל הקבצים המורכבים מביטים – </a:t>
            </a:r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כל הקבצים על המחשב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אם נקרא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קובץ כללי תו אחר תו, כמו שקוראים קובץ טקסטואלי ,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לא תמיד נצליח להדפיס אותם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לרוב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נצטרך תוכנות מיוחדות בשביל לפתוח את הקבצים הללו / לקרוא מתוכן את המידע בצורה נכונה: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Power point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לפתוח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קבצים בינאריים מסוג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ppt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Photo shop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לפתיחת קבצי תמונה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jpg, gif, bmp, tiff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...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Windows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לפתיחה (הרצה) של קבצי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exe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r>
              <a:rPr lang="he-IL" sz="28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שאלה: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האם קבצים טקסטואליים הם קבצים בינאריים?</a:t>
            </a:r>
          </a:p>
        </p:txBody>
      </p:sp>
    </p:spTree>
    <p:extLst>
      <p:ext uri="{BB962C8B-B14F-4D97-AF65-F5344CB8AC3E}">
        <p14:creationId xmlns:p14="http://schemas.microsoft.com/office/powerpoint/2010/main" xmlns="" val="167784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/>
          <p:cNvPicPr>
            <a:picLocks noChangeAspect="1" noChangeArrowheads="1"/>
          </p:cNvPicPr>
          <p:nvPr/>
        </p:nvPicPr>
        <p:blipFill>
          <a:blip r:embed="rId2" cstate="print"/>
          <a:srcRect b="27525"/>
          <a:stretch>
            <a:fillRect/>
          </a:stretch>
        </p:blipFill>
        <p:spPr bwMode="auto">
          <a:xfrm>
            <a:off x="509588" y="1340768"/>
            <a:ext cx="8124825" cy="41764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</a:t>
            </a:r>
            <a:r>
              <a:rPr lang="he-IL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טקסטואלים</a:t>
            </a:r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 - דוגמא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grpSp>
        <p:nvGrpSpPr>
          <p:cNvPr id="4" name="קבוצה 13"/>
          <p:cNvGrpSpPr/>
          <p:nvPr/>
        </p:nvGrpSpPr>
        <p:grpSpPr>
          <a:xfrm>
            <a:off x="251520" y="2636912"/>
            <a:ext cx="2088232" cy="4032448"/>
            <a:chOff x="251520" y="2636912"/>
            <a:chExt cx="2088232" cy="4032448"/>
          </a:xfrm>
        </p:grpSpPr>
        <p:sp>
          <p:nvSpPr>
            <p:cNvPr id="5" name="מלבן 4"/>
            <p:cNvSpPr/>
            <p:nvPr/>
          </p:nvSpPr>
          <p:spPr>
            <a:xfrm>
              <a:off x="827584" y="2636912"/>
              <a:ext cx="864096" cy="288032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מלבן 7"/>
            <p:cNvSpPr/>
            <p:nvPr/>
          </p:nvSpPr>
          <p:spPr>
            <a:xfrm>
              <a:off x="251520" y="5517232"/>
              <a:ext cx="2088232" cy="11521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המספר הסידורי של הבית הראשון</a:t>
              </a:r>
              <a:r>
                <a:rPr lang="en-US" b="1" dirty="0" smtClean="0"/>
                <a:t> </a:t>
              </a:r>
              <a:r>
                <a:rPr lang="he-IL" b="1" dirty="0" smtClean="0"/>
                <a:t> </a:t>
              </a:r>
              <a:r>
                <a:rPr lang="he-IL" b="1" dirty="0" smtClean="0"/>
                <a:t>(המופיע בעמודה 0)</a:t>
              </a:r>
              <a:endParaRPr lang="he-IL" b="1" dirty="0"/>
            </a:p>
          </p:txBody>
        </p:sp>
        <p:cxnSp>
          <p:nvCxnSpPr>
            <p:cNvPr id="10" name="מחבר חץ ישר 9"/>
            <p:cNvCxnSpPr/>
            <p:nvPr/>
          </p:nvCxnSpPr>
          <p:spPr>
            <a:xfrm>
              <a:off x="1691680" y="2708920"/>
              <a:ext cx="1440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מחבר חץ ישר 12"/>
            <p:cNvCxnSpPr/>
            <p:nvPr/>
          </p:nvCxnSpPr>
          <p:spPr>
            <a:xfrm>
              <a:off x="1691680" y="2924944"/>
              <a:ext cx="1440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קבוצה 16"/>
          <p:cNvGrpSpPr/>
          <p:nvPr/>
        </p:nvGrpSpPr>
        <p:grpSpPr>
          <a:xfrm>
            <a:off x="179512" y="188640"/>
            <a:ext cx="1584176" cy="1440160"/>
            <a:chOff x="179512" y="188640"/>
            <a:chExt cx="1584176" cy="1440160"/>
          </a:xfrm>
        </p:grpSpPr>
        <p:sp>
          <p:nvSpPr>
            <p:cNvPr id="15" name="מלבן 14"/>
            <p:cNvSpPr/>
            <p:nvPr/>
          </p:nvSpPr>
          <p:spPr>
            <a:xfrm>
              <a:off x="467544" y="1340768"/>
              <a:ext cx="1008112" cy="288032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מלבן 15"/>
            <p:cNvSpPr/>
            <p:nvPr/>
          </p:nvSpPr>
          <p:spPr>
            <a:xfrm>
              <a:off x="179512" y="188640"/>
              <a:ext cx="1584176" cy="11521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en-US" b="1" dirty="0" smtClean="0"/>
                <a:t>Hex Workshop</a:t>
              </a:r>
            </a:p>
            <a:p>
              <a:pPr algn="ctr" rtl="1"/>
              <a:r>
                <a:rPr lang="he-IL" b="1" dirty="0" smtClean="0"/>
                <a:t>תוכנה לניתוח ועריכת קבצים ברמת הביטים</a:t>
              </a:r>
              <a:endParaRPr lang="he-IL" b="1" dirty="0"/>
            </a:p>
          </p:txBody>
        </p:sp>
      </p:grpSp>
      <p:grpSp>
        <p:nvGrpSpPr>
          <p:cNvPr id="7" name="קבוצה 30"/>
          <p:cNvGrpSpPr/>
          <p:nvPr/>
        </p:nvGrpSpPr>
        <p:grpSpPr>
          <a:xfrm>
            <a:off x="1835696" y="2636912"/>
            <a:ext cx="4464496" cy="4032448"/>
            <a:chOff x="1835696" y="2636912"/>
            <a:chExt cx="4464496" cy="4032448"/>
          </a:xfrm>
        </p:grpSpPr>
        <p:sp>
          <p:nvSpPr>
            <p:cNvPr id="18" name="מלבן 17"/>
            <p:cNvSpPr/>
            <p:nvPr/>
          </p:nvSpPr>
          <p:spPr>
            <a:xfrm>
              <a:off x="2555776" y="5517232"/>
              <a:ext cx="3744416" cy="1152128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גם את התוכן של קובץ בינארי אפשר לחלק לבתים.</a:t>
              </a:r>
            </a:p>
            <a:p>
              <a:pPr algn="ctr" rtl="1"/>
              <a:r>
                <a:rPr lang="he-IL" b="1" dirty="0" smtClean="0"/>
                <a:t>פה הערך של כל בית מיוצג ע"י שני תווים ב-</a:t>
              </a:r>
              <a:r>
                <a:rPr lang="en-US" b="1" dirty="0" smtClean="0"/>
                <a:t>hexadecimal</a:t>
              </a:r>
              <a:r>
                <a:rPr lang="he-IL" b="1" dirty="0" smtClean="0"/>
                <a:t>.</a:t>
              </a:r>
              <a:endParaRPr lang="he-IL" b="1" dirty="0"/>
            </a:p>
          </p:txBody>
        </p:sp>
        <p:sp>
          <p:nvSpPr>
            <p:cNvPr id="19" name="מלבן 18"/>
            <p:cNvSpPr/>
            <p:nvPr/>
          </p:nvSpPr>
          <p:spPr>
            <a:xfrm>
              <a:off x="1835696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0" name="מלבן 19"/>
            <p:cNvSpPr/>
            <p:nvPr/>
          </p:nvSpPr>
          <p:spPr>
            <a:xfrm>
              <a:off x="2152531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מלבן 20"/>
            <p:cNvSpPr/>
            <p:nvPr/>
          </p:nvSpPr>
          <p:spPr>
            <a:xfrm>
              <a:off x="2469366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/>
            <p:cNvSpPr/>
            <p:nvPr/>
          </p:nvSpPr>
          <p:spPr>
            <a:xfrm>
              <a:off x="2786201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/>
            <p:cNvSpPr/>
            <p:nvPr/>
          </p:nvSpPr>
          <p:spPr>
            <a:xfrm>
              <a:off x="3103036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מלבן 23"/>
            <p:cNvSpPr/>
            <p:nvPr/>
          </p:nvSpPr>
          <p:spPr>
            <a:xfrm>
              <a:off x="3419872" y="2636912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5" name="מלבן 24"/>
            <p:cNvSpPr/>
            <p:nvPr/>
          </p:nvSpPr>
          <p:spPr>
            <a:xfrm>
              <a:off x="3419872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6" name="מלבן 25"/>
            <p:cNvSpPr/>
            <p:nvPr/>
          </p:nvSpPr>
          <p:spPr>
            <a:xfrm>
              <a:off x="3736707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7" name="מלבן 26"/>
            <p:cNvSpPr/>
            <p:nvPr/>
          </p:nvSpPr>
          <p:spPr>
            <a:xfrm>
              <a:off x="4053542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8" name="מלבן 27"/>
            <p:cNvSpPr/>
            <p:nvPr/>
          </p:nvSpPr>
          <p:spPr>
            <a:xfrm>
              <a:off x="4370377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9" name="מלבן 28"/>
            <p:cNvSpPr/>
            <p:nvPr/>
          </p:nvSpPr>
          <p:spPr>
            <a:xfrm>
              <a:off x="4687212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0" name="מלבן 29"/>
            <p:cNvSpPr/>
            <p:nvPr/>
          </p:nvSpPr>
          <p:spPr>
            <a:xfrm>
              <a:off x="5004048" y="5301208"/>
              <a:ext cx="216024" cy="216024"/>
            </a:xfrm>
            <a:prstGeom prst="rect">
              <a:avLst/>
            </a:prstGeom>
            <a:solidFill>
              <a:schemeClr val="accent4">
                <a:alpha val="25000"/>
              </a:schemeClr>
            </a:solidFill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9" name="קבוצה 63"/>
          <p:cNvGrpSpPr/>
          <p:nvPr/>
        </p:nvGrpSpPr>
        <p:grpSpPr>
          <a:xfrm>
            <a:off x="6516216" y="2636912"/>
            <a:ext cx="2304256" cy="4032448"/>
            <a:chOff x="6516216" y="2636912"/>
            <a:chExt cx="2304256" cy="4032448"/>
          </a:xfrm>
        </p:grpSpPr>
        <p:grpSp>
          <p:nvGrpSpPr>
            <p:cNvPr id="11" name="קבוצה 52"/>
            <p:cNvGrpSpPr/>
            <p:nvPr/>
          </p:nvGrpSpPr>
          <p:grpSpPr>
            <a:xfrm>
              <a:off x="7524328" y="2636912"/>
              <a:ext cx="1080120" cy="288016"/>
              <a:chOff x="7524328" y="2636912"/>
              <a:chExt cx="1080120" cy="288016"/>
            </a:xfrm>
            <a:solidFill>
              <a:srgbClr val="80A331">
                <a:alpha val="25000"/>
              </a:srgbClr>
            </a:solidFill>
          </p:grpSpPr>
          <p:sp>
            <p:nvSpPr>
              <p:cNvPr id="37" name="מלבן 36"/>
              <p:cNvSpPr/>
              <p:nvPr/>
            </p:nvSpPr>
            <p:spPr>
              <a:xfrm>
                <a:off x="7524328" y="2636912"/>
                <a:ext cx="432048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1" name="מלבן 40"/>
              <p:cNvSpPr/>
              <p:nvPr/>
            </p:nvSpPr>
            <p:spPr>
              <a:xfrm>
                <a:off x="7740352" y="2780928"/>
                <a:ext cx="864096" cy="144000"/>
              </a:xfrm>
              <a:prstGeom prst="rect">
                <a:avLst/>
              </a:prstGeom>
              <a:grpFill/>
              <a:ln w="12700"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54" name="מלבן 53"/>
            <p:cNvSpPr/>
            <p:nvPr/>
          </p:nvSpPr>
          <p:spPr>
            <a:xfrm>
              <a:off x="6516216" y="5517232"/>
              <a:ext cx="2304256" cy="115212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אבל חלק מהם עדיין ניתנים להדפסה (</a:t>
              </a:r>
              <a:r>
                <a:rPr lang="en-US" b="1" dirty="0" smtClean="0"/>
                <a:t>JFIF</a:t>
              </a:r>
              <a:r>
                <a:rPr lang="he-IL" b="1" dirty="0" smtClean="0"/>
                <a:t> אומר שמדובר בקובץ </a:t>
              </a:r>
              <a:r>
                <a:rPr lang="en-US" b="1" dirty="0" smtClean="0"/>
                <a:t>jpeg</a:t>
              </a:r>
              <a:r>
                <a:rPr lang="he-IL" b="1" dirty="0" smtClean="0"/>
                <a:t>)</a:t>
              </a:r>
              <a:endParaRPr lang="he-IL" b="1" dirty="0"/>
            </a:p>
          </p:txBody>
        </p:sp>
      </p:grpSp>
      <p:grpSp>
        <p:nvGrpSpPr>
          <p:cNvPr id="14" name="קבוצה 64"/>
          <p:cNvGrpSpPr/>
          <p:nvPr/>
        </p:nvGrpSpPr>
        <p:grpSpPr>
          <a:xfrm>
            <a:off x="2459768" y="2996952"/>
            <a:ext cx="5496608" cy="1656184"/>
            <a:chOff x="1835696" y="2852936"/>
            <a:chExt cx="5496608" cy="1656184"/>
          </a:xfrm>
        </p:grpSpPr>
        <p:sp>
          <p:nvSpPr>
            <p:cNvPr id="55" name="מלבן 54"/>
            <p:cNvSpPr/>
            <p:nvPr/>
          </p:nvSpPr>
          <p:spPr>
            <a:xfrm>
              <a:off x="3083832" y="2852936"/>
              <a:ext cx="2304256" cy="165618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r>
                <a:rPr lang="he-IL" b="1" dirty="0" smtClean="0"/>
                <a:t>רוב הבתים/תווים בקובץ בינארי לא ניתנים להדפסה.</a:t>
              </a:r>
              <a:r>
                <a:rPr lang="en-US" b="1" dirty="0" smtClean="0"/>
                <a:t/>
              </a:r>
              <a:br>
                <a:rPr lang="en-US" b="1" dirty="0" smtClean="0"/>
              </a:br>
              <a:r>
                <a:rPr lang="he-IL" b="1" dirty="0" smtClean="0"/>
                <a:t>ערכים אלו מוצגים כנקודה ב </a:t>
              </a:r>
              <a:r>
                <a:rPr lang="en-US" b="1" dirty="0" smtClean="0"/>
                <a:t>Hex Workshop</a:t>
              </a:r>
              <a:endParaRPr lang="he-IL" b="1" dirty="0"/>
            </a:p>
          </p:txBody>
        </p:sp>
        <p:sp>
          <p:nvSpPr>
            <p:cNvPr id="56" name="מלבן 55"/>
            <p:cNvSpPr/>
            <p:nvPr/>
          </p:nvSpPr>
          <p:spPr>
            <a:xfrm>
              <a:off x="6948264" y="3068976"/>
              <a:ext cx="72000" cy="144000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7" name="מלבן 56"/>
            <p:cNvSpPr/>
            <p:nvPr/>
          </p:nvSpPr>
          <p:spPr>
            <a:xfrm>
              <a:off x="7052276" y="3068976"/>
              <a:ext cx="72000" cy="144000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מלבן 57"/>
            <p:cNvSpPr/>
            <p:nvPr/>
          </p:nvSpPr>
          <p:spPr>
            <a:xfrm>
              <a:off x="7156288" y="3068976"/>
              <a:ext cx="72000" cy="144000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9" name="מלבן 58"/>
            <p:cNvSpPr/>
            <p:nvPr/>
          </p:nvSpPr>
          <p:spPr>
            <a:xfrm>
              <a:off x="7260304" y="3068976"/>
              <a:ext cx="72000" cy="144000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0" name="מלבן 59"/>
            <p:cNvSpPr/>
            <p:nvPr/>
          </p:nvSpPr>
          <p:spPr>
            <a:xfrm>
              <a:off x="1835696" y="2996952"/>
              <a:ext cx="216024" cy="216024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1" name="מלבן 60"/>
            <p:cNvSpPr/>
            <p:nvPr/>
          </p:nvSpPr>
          <p:spPr>
            <a:xfrm>
              <a:off x="2152531" y="2996952"/>
              <a:ext cx="216024" cy="216024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2" name="מלבן 61"/>
            <p:cNvSpPr/>
            <p:nvPr/>
          </p:nvSpPr>
          <p:spPr>
            <a:xfrm>
              <a:off x="2469366" y="2996952"/>
              <a:ext cx="216024" cy="216024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3" name="מלבן 62"/>
            <p:cNvSpPr/>
            <p:nvPr/>
          </p:nvSpPr>
          <p:spPr>
            <a:xfrm>
              <a:off x="2786201" y="2996952"/>
              <a:ext cx="216024" cy="216024"/>
            </a:xfrm>
            <a:prstGeom prst="rect">
              <a:avLst/>
            </a:prstGeom>
            <a:solidFill>
              <a:schemeClr val="accent6">
                <a:lumMod val="75000"/>
                <a:alpha val="2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xmlns="" val="347309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3501008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עבודה עם קבצים </a:t>
            </a: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בינאריים</a:t>
            </a:r>
            <a:r>
              <a:rPr lang="en-US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/>
            </a:r>
            <a:br>
              <a:rPr lang="en-US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</a:b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בשפת </a:t>
            </a:r>
            <a:r>
              <a:rPr lang="en-US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C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560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בינאריים ב-</a:t>
            </a:r>
            <a:r>
              <a:rPr lang="en-US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C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בדומה לקבצים טקסטואליים גם לקבצים בינאריים ישנן הרבה פונקציות ב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stdio.h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העומדות לרשותנו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למעשה, כל הפונקציות שראינו עד כה תקפות גם לגבי קבצים בינאריים: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- נשתמש בה כשנרצה לעבוד עם קובץ. נצטרך להבהיר כי מדובר בקובץ בינארי ולא טקסטואלי: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“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r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”, “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w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”, “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”, “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r+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”, “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w+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”, “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a+</a:t>
            </a:r>
            <a:r>
              <a:rPr lang="en-US" sz="2400" b="1" dirty="0" err="1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”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.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fclose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fgetc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fputc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fscanf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,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fprintf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– הבדלים מעטים מאוד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כעת ניתן לענות על השאלה, מדוע היינו צריכים ערך מחוץ לטבלת ה-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ASCII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(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EOF = -1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לייצג סוף קובץ?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אך בקבצים כלליים ישנן מספר פונקציות נוספות העומדות לרשותנו</a:t>
            </a:r>
            <a:endParaRPr lang="he-IL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קבצים בינאריים ב-</a:t>
            </a:r>
            <a:r>
              <a:rPr lang="en-US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C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בהקשר של קבצים בינאריים ישנן מספר פונקציות ששווה להכיר</a:t>
            </a:r>
          </a:p>
          <a:p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השתיים החשובות ביותר (אותן תכירו בשיעורי הבית 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Wingdings" pitchFamily="2" charset="2"/>
              </a:rPr>
              <a:t></a:t>
            </a:r>
            <a:r>
              <a:rPr lang="he-IL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):</a:t>
            </a:r>
          </a:p>
          <a:p>
            <a:pPr lvl="1"/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fread</a:t>
            </a:r>
            <a:endParaRPr lang="en-US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  <a:sym typeface="Calibri"/>
            </a:endParaRPr>
          </a:p>
          <a:p>
            <a:pPr lvl="1"/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fwrite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  <a:sym typeface="Calibri"/>
            </a:endParaRPr>
          </a:p>
          <a:p>
            <a:pPr algn="r"/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מוזמנים לקרוא עליהן ועל פונקציות נוספות (כמו </a:t>
            </a:r>
            <a:r>
              <a:rPr 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fgets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 ו- </a:t>
            </a:r>
            <a:r>
              <a:rPr 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fputs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) בלינק הבא </a:t>
            </a:r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http://</a:t>
            </a:r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  <a:sym typeface="Calibri"/>
              </a:rPr>
              <a:t>www.cplusplus.com/reference/cstdio</a:t>
            </a:r>
            <a:endParaRPr lang="he-IL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2636912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הזזת סמן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313073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הזזת סמן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fseek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ראינו כי ניתן לכתוב לתחילת קובץ (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עם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“w”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או לסוף קובץ (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עם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“a”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), וכי ניתן לשלב קריאה ממיקום מסוים בקובץ וכתיבה לסוף הקובץ (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fopen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עם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“a+”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). פעולות אלו אפשריות בעזרת </a:t>
            </a: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הסמן.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הסמן הוא משתנה פנימי בתוך המבנה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המציין את המיקום הנוכחי שלנו בקובץ.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כשביצענו פעולת קריאה בעזרת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fgetc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למעשה קראנו את התו בקובץ עליו הצביע הסמן, ולאחר מכן עודכן ערך הסמן לתו הבא בקובץ. </a:t>
            </a: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מה היה קורה אם לא היינו מעדכנים את המיקום?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גם בפעולת כתיבה התו שכתבנו נכתב למיקום עליו הצביע הסמן, והמיקום עודכן לאחר מכן לתו הבא בקובץ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זו אחת הסיבות שכל הפונקציות מקבלות מצביע לקובץ (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FILE *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) במקום את הקובץ עצמו. </a:t>
            </a: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הן משנות את תוכן המבנה </a:t>
            </a:r>
            <a:r>
              <a:rPr lang="en-US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FILE</a:t>
            </a: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 ולכן צריכות לקבל אותו </a:t>
            </a:r>
            <a:r>
              <a:rPr lang="en-US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by reference</a:t>
            </a:r>
            <a:r>
              <a:rPr lang="he-IL" sz="2400" b="1" dirty="0" smtClean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000" b="1" dirty="0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הזזת סמן - </a:t>
            </a:r>
            <a:r>
              <a:rPr lang="en-US" sz="4000" b="1" dirty="0" err="1" smtClean="0">
                <a:solidFill>
                  <a:srgbClr val="80A331"/>
                </a:solidFill>
                <a:latin typeface="David" pitchFamily="34" charset="-79"/>
                <a:ea typeface="Calibri"/>
                <a:cs typeface="David" pitchFamily="34" charset="-79"/>
                <a:sym typeface="Calibri"/>
              </a:rPr>
              <a:t>fseek</a:t>
            </a:r>
            <a:endParaRPr lang="en-US" sz="4000" b="1" dirty="0">
              <a:solidFill>
                <a:srgbClr val="80A331"/>
              </a:solidFill>
              <a:latin typeface="David" pitchFamily="34" charset="-79"/>
              <a:ea typeface="Calibri"/>
              <a:cs typeface="David" pitchFamily="34" charset="-79"/>
              <a:sym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424936" cy="4525963"/>
          </a:xfrm>
        </p:spPr>
        <p:txBody>
          <a:bodyPr/>
          <a:lstStyle/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בדומה לפונקציות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fgetc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ו-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fputc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יש לנו אפשרות להזיז את מיקום הסמן בעצמנו בעזרת הפונקציה </a:t>
            </a:r>
            <a:r>
              <a:rPr lang="en-US" sz="2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fseek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0"/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פרמטרי קלט: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מצביע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לקובץ</a:t>
            </a:r>
            <a:endParaRPr lang="en-US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מספר הבתים שעל הסמן לזוז (יכול להיות גם שלילי 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לתזוזה אחורה)</a:t>
            </a:r>
          </a:p>
          <a:p>
            <a:pPr lvl="1">
              <a:buFont typeface="Wingdings" pitchFamily="2" charset="2"/>
              <a:buChar char="§"/>
            </a:pP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מוצא התזוזה</a:t>
            </a:r>
          </a:p>
          <a:p>
            <a:pPr lvl="2">
              <a:buFont typeface="Courier New" pitchFamily="49" charset="0"/>
              <a:buChar char="o"/>
            </a:pPr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SEEK_CUR 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– החל מהמיקום הנוכחי</a:t>
            </a:r>
            <a:endParaRPr lang="en-US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2">
              <a:buFont typeface="Courier New" pitchFamily="49" charset="0"/>
              <a:buChar char="o"/>
            </a:pPr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SEEK_END 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– החל מסוף הקובץ</a:t>
            </a:r>
            <a:endParaRPr lang="en-US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  <a:p>
            <a:pPr lvl="2">
              <a:buFont typeface="Courier New" pitchFamily="49" charset="0"/>
              <a:buChar char="o"/>
            </a:pPr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SEEK_SET 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– החל מתחילת </a:t>
            </a:r>
            <a:r>
              <a:rPr lang="he-IL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הקובץ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ערך החזרה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:</a:t>
            </a:r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 0 במקרה של הצלחה, ומספר שונה מ-0 אחרת</a:t>
            </a:r>
          </a:p>
          <a:p>
            <a:r>
              <a:rPr lang="he-IL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David" pitchFamily="34" charset="-79"/>
                <a:cs typeface="David" pitchFamily="34" charset="-79"/>
              </a:rPr>
              <a:t>דוגמא: מעבר לבית הרביעי של הקובץ</a:t>
            </a:r>
            <a:endParaRPr lang="he-IL" sz="2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3013" y="2060848"/>
            <a:ext cx="6657975" cy="390525"/>
          </a:xfrm>
          <a:prstGeom prst="rect">
            <a:avLst/>
          </a:prstGeom>
          <a:noFill/>
          <a:ln w="38100">
            <a:solidFill>
              <a:srgbClr val="92AB63"/>
            </a:solidFill>
            <a:miter lim="800000"/>
            <a:headEnd/>
            <a:tailEnd/>
          </a:ln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6381328"/>
            <a:ext cx="5200650" cy="295275"/>
          </a:xfrm>
          <a:prstGeom prst="rect">
            <a:avLst/>
          </a:prstGeom>
          <a:noFill/>
          <a:ln w="38100">
            <a:solidFill>
              <a:srgbClr val="92AB63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48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6.sphotos.ak.fbcdn.net/hphotos-ak-snc3/29642_132805566730596_131742310170255_353013_6626978_n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762000" cy="100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3" y="2420888"/>
            <a:ext cx="7772400" cy="1500187"/>
          </a:xfr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he-IL" sz="8800" b="1" dirty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תרגול </a:t>
            </a:r>
            <a:r>
              <a:rPr lang="he-IL" sz="8800" b="1" dirty="0" smtClean="0">
                <a:solidFill>
                  <a:srgbClr val="80A331"/>
                </a:solidFill>
                <a:latin typeface="David" pitchFamily="34" charset="-79"/>
                <a:ea typeface="David" pitchFamily="34" charset="-79"/>
                <a:cs typeface="David" pitchFamily="34" charset="-79"/>
                <a:sym typeface="Calibri"/>
              </a:rPr>
              <a:t>כיתה</a:t>
            </a:r>
            <a:endParaRPr lang="he-IL" sz="8800" b="1" dirty="0">
              <a:solidFill>
                <a:srgbClr val="80A331"/>
              </a:solidFill>
              <a:latin typeface="David" pitchFamily="34" charset="-79"/>
              <a:ea typeface="David" pitchFamily="34" charset="-79"/>
              <a:cs typeface="David" pitchFamily="34" charset="-79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440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פורמאט מערך שיעו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פורמאט מערך שיעור</Template>
  <TotalTime>1134</TotalTime>
  <Words>2047</Words>
  <Application>Microsoft Office PowerPoint</Application>
  <PresentationFormat>‫הצגה על המסך (4:3)</PresentationFormat>
  <Paragraphs>244</Paragraphs>
  <Slides>30</Slides>
  <Notes>17</Notes>
  <HiddenSlides>0</HiddenSlides>
  <MMClips>0</MMClips>
  <ScaleCrop>false</ScaleCrop>
  <HeadingPairs>
    <vt:vector size="4" baseType="variant"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30</vt:i4>
      </vt:variant>
    </vt:vector>
  </HeadingPairs>
  <TitlesOfParts>
    <vt:vector size="32" baseType="lpstr">
      <vt:lpstr>פורמאט מערך שיעור</vt:lpstr>
      <vt:lpstr>Theme1</vt:lpstr>
      <vt:lpstr>קבצים</vt:lpstr>
      <vt:lpstr>מה נלמד היום?</vt:lpstr>
      <vt:lpstr>על מה ולמה?</vt:lpstr>
      <vt:lpstr>מבנה הזיכרון של התכנית - תזכורת</vt:lpstr>
      <vt:lpstr>זיכרון גישה אקראית (RAM)</vt:lpstr>
      <vt:lpstr>קבצים</vt:lpstr>
      <vt:lpstr>My name is Inigo Montoya. You killed my father… Prepare to die!</vt:lpstr>
      <vt:lpstr>קבצים טקסטואלים</vt:lpstr>
      <vt:lpstr>קבצים טקסטואלים - דוגמא</vt:lpstr>
      <vt:lpstr>שקופית 10</vt:lpstr>
      <vt:lpstr>קבצים ב-C</vt:lpstr>
      <vt:lpstr>פתיחת קובץ - fopen</vt:lpstr>
      <vt:lpstr>פתיחת קובץ - fopen</vt:lpstr>
      <vt:lpstr>פתיחת קובץ - דוגמאות</vt:lpstr>
      <vt:lpstr>סגירת קובץ - fclose</vt:lpstr>
      <vt:lpstr>קריאה מקובץ - fgetc</vt:lpstr>
      <vt:lpstr>כתיבה לקובץ - fputc</vt:lpstr>
      <vt:lpstr>קבצים טקסטואליים – דוגמא 1</vt:lpstr>
      <vt:lpstr>דוגמא 2</vt:lpstr>
      <vt:lpstr> הפונקציות - fprintf, fscanf</vt:lpstr>
      <vt:lpstr>0011101101011101000001101</vt:lpstr>
      <vt:lpstr>קבצים בינאריים</vt:lpstr>
      <vt:lpstr>קבצים טקסטואלים - דוגמא</vt:lpstr>
      <vt:lpstr>שקופית 24</vt:lpstr>
      <vt:lpstr>קבצים בינאריים ב-C</vt:lpstr>
      <vt:lpstr>קבצים בינאריים ב-C</vt:lpstr>
      <vt:lpstr>שקופית 27</vt:lpstr>
      <vt:lpstr>הזזת סמן - fseek</vt:lpstr>
      <vt:lpstr>הזזת סמן - fseek</vt:lpstr>
      <vt:lpstr>שקופית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user-pc</dc:creator>
  <cp:lastModifiedBy>Lotan</cp:lastModifiedBy>
  <cp:revision>147</cp:revision>
  <dcterms:created xsi:type="dcterms:W3CDTF">2013-02-27T14:48:09Z</dcterms:created>
  <dcterms:modified xsi:type="dcterms:W3CDTF">2014-05-18T16:38:27Z</dcterms:modified>
</cp:coreProperties>
</file>